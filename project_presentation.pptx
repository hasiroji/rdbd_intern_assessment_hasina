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4" r:id="rId7"/>
    <p:sldId id="269" r:id="rId8"/>
    <p:sldId id="265" r:id="rId9"/>
    <p:sldId id="270" r:id="rId10"/>
    <p:sldId id="276" r:id="rId11"/>
    <p:sldId id="271" r:id="rId12"/>
    <p:sldId id="278" r:id="rId13"/>
    <p:sldId id="272" r:id="rId14"/>
    <p:sldId id="273" r:id="rId15"/>
    <p:sldId id="275" r:id="rId16"/>
  </p:sldIdLst>
  <p:sldSz cx="18288000" cy="10287000"/>
  <p:notesSz cx="6858000" cy="9144000"/>
  <p:embeddedFontLst>
    <p:embeddedFont>
      <p:font typeface="Andada Pro" panose="020B0604020202020204" charset="0"/>
      <p:regular r:id="rId18"/>
    </p:embeddedFont>
    <p:embeddedFont>
      <p:font typeface="Andada Pro Bold" panose="020B0604020202020204" charset="0"/>
      <p:regular r:id="rId19"/>
    </p:embeddedFont>
    <p:embeddedFont>
      <p:font typeface="Andada Pro Semi-Bold" panose="020B0604020202020204" charset="0"/>
      <p:regular r:id="rId20"/>
    </p:embeddedFont>
    <p:embeddedFont>
      <p:font typeface="Andada Pro Ultra-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1060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INA KHATUN" userId="e261b65c168c4742" providerId="LiveId" clId="{24853B29-85C1-4D5D-9376-ACA36D3CA991}"/>
    <pc:docChg chg="custSel modSld">
      <pc:chgData name="HASINA KHATUN" userId="e261b65c168c4742" providerId="LiveId" clId="{24853B29-85C1-4D5D-9376-ACA36D3CA991}" dt="2025-09-27T01:53:53.715" v="54" actId="14100"/>
      <pc:docMkLst>
        <pc:docMk/>
      </pc:docMkLst>
      <pc:sldChg chg="delSp modSp mod">
        <pc:chgData name="HASINA KHATUN" userId="e261b65c168c4742" providerId="LiveId" clId="{24853B29-85C1-4D5D-9376-ACA36D3CA991}" dt="2025-09-27T01:53:53.715" v="54" actId="14100"/>
        <pc:sldMkLst>
          <pc:docMk/>
          <pc:sldMk cId="0" sldId="264"/>
        </pc:sldMkLst>
        <pc:spChg chg="del topLvl">
          <ac:chgData name="HASINA KHATUN" userId="e261b65c168c4742" providerId="LiveId" clId="{24853B29-85C1-4D5D-9376-ACA36D3CA991}" dt="2025-09-27T01:53:33.097" v="53" actId="21"/>
          <ac:spMkLst>
            <pc:docMk/>
            <pc:sldMk cId="0" sldId="264"/>
            <ac:spMk id="108" creationId="{00000000-0000-0000-0000-000000000000}"/>
          </ac:spMkLst>
        </pc:spChg>
        <pc:spChg chg="topLvl">
          <ac:chgData name="HASINA KHATUN" userId="e261b65c168c4742" providerId="LiveId" clId="{24853B29-85C1-4D5D-9376-ACA36D3CA991}" dt="2025-09-27T01:53:33.097" v="53" actId="21"/>
          <ac:spMkLst>
            <pc:docMk/>
            <pc:sldMk cId="0" sldId="264"/>
            <ac:spMk id="109" creationId="{00000000-0000-0000-0000-000000000000}"/>
          </ac:spMkLst>
        </pc:spChg>
        <pc:grpChg chg="mod">
          <ac:chgData name="HASINA KHATUN" userId="e261b65c168c4742" providerId="LiveId" clId="{24853B29-85C1-4D5D-9376-ACA36D3CA991}" dt="2025-09-27T01:53:09.485" v="51" actId="1076"/>
          <ac:grpSpMkLst>
            <pc:docMk/>
            <pc:sldMk cId="0" sldId="264"/>
            <ac:grpSpMk id="50" creationId="{00000000-0000-0000-0000-000000000000}"/>
          </ac:grpSpMkLst>
        </pc:grpChg>
        <pc:grpChg chg="mod">
          <ac:chgData name="HASINA KHATUN" userId="e261b65c168c4742" providerId="LiveId" clId="{24853B29-85C1-4D5D-9376-ACA36D3CA991}" dt="2025-09-27T01:53:21.513" v="52" actId="1076"/>
          <ac:grpSpMkLst>
            <pc:docMk/>
            <pc:sldMk cId="0" sldId="264"/>
            <ac:grpSpMk id="86" creationId="{00000000-0000-0000-0000-000000000000}"/>
          </ac:grpSpMkLst>
        </pc:grpChg>
        <pc:grpChg chg="mod">
          <ac:chgData name="HASINA KHATUN" userId="e261b65c168c4742" providerId="LiveId" clId="{24853B29-85C1-4D5D-9376-ACA36D3CA991}" dt="2025-09-27T01:53:53.715" v="54" actId="14100"/>
          <ac:grpSpMkLst>
            <pc:docMk/>
            <pc:sldMk cId="0" sldId="264"/>
            <ac:grpSpMk id="89" creationId="{00000000-0000-0000-0000-000000000000}"/>
          </ac:grpSpMkLst>
        </pc:grpChg>
        <pc:grpChg chg="del">
          <ac:chgData name="HASINA KHATUN" userId="e261b65c168c4742" providerId="LiveId" clId="{24853B29-85C1-4D5D-9376-ACA36D3CA991}" dt="2025-09-27T01:53:33.097" v="53" actId="21"/>
          <ac:grpSpMkLst>
            <pc:docMk/>
            <pc:sldMk cId="0" sldId="264"/>
            <ac:grpSpMk id="107" creationId="{00000000-0000-0000-0000-000000000000}"/>
          </ac:grpSpMkLst>
        </pc:grpChg>
      </pc:sldChg>
      <pc:sldChg chg="modSp mod">
        <pc:chgData name="HASINA KHATUN" userId="e261b65c168c4742" providerId="LiveId" clId="{24853B29-85C1-4D5D-9376-ACA36D3CA991}" dt="2025-09-26T18:36:55.475" v="50" actId="20577"/>
        <pc:sldMkLst>
          <pc:docMk/>
          <pc:sldMk cId="0" sldId="265"/>
        </pc:sldMkLst>
        <pc:spChg chg="mod">
          <ac:chgData name="HASINA KHATUN" userId="e261b65c168c4742" providerId="LiveId" clId="{24853B29-85C1-4D5D-9376-ACA36D3CA991}" dt="2025-09-26T18:36:55.475" v="50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HASINA KHATUN" userId="e261b65c168c4742" providerId="LiveId" clId="{24853B29-85C1-4D5D-9376-ACA36D3CA991}" dt="2025-09-26T18:36:43.049" v="47"/>
        <pc:sldMkLst>
          <pc:docMk/>
          <pc:sldMk cId="2401184866" sldId="276"/>
        </pc:sldMkLst>
        <pc:spChg chg="mod">
          <ac:chgData name="HASINA KHATUN" userId="e261b65c168c4742" providerId="LiveId" clId="{24853B29-85C1-4D5D-9376-ACA36D3CA991}" dt="2025-09-26T18:36:43.049" v="47"/>
          <ac:spMkLst>
            <pc:docMk/>
            <pc:sldMk cId="2401184866" sldId="276"/>
            <ac:spMk id="2" creationId="{D8CDEA38-C4C3-6FCE-9FB1-46E446584E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CF6AD-A886-4439-8862-80EF49A9D16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77ADE-2C74-463B-B6B9-9D6F391FD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77ADE-2C74-463B-B6B9-9D6F391FD3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31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77ADE-2C74-463B-B6B9-9D6F391FD3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64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18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svg"/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12" Type="http://schemas.openxmlformats.org/officeDocument/2006/relationships/image" Target="../media/image45.png"/><Relationship Id="rId17" Type="http://schemas.openxmlformats.org/officeDocument/2006/relationships/image" Target="../media/image50.sv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svg"/><Relationship Id="rId5" Type="http://schemas.openxmlformats.org/officeDocument/2006/relationships/image" Target="../media/image38.svg"/><Relationship Id="rId15" Type="http://schemas.openxmlformats.org/officeDocument/2006/relationships/image" Target="../media/image48.sv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svg"/><Relationship Id="rId1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svg"/><Relationship Id="rId7" Type="http://schemas.openxmlformats.org/officeDocument/2006/relationships/image" Target="../media/image56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svg"/><Relationship Id="rId5" Type="http://schemas.openxmlformats.org/officeDocument/2006/relationships/image" Target="../media/image54.sv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svg"/><Relationship Id="rId5" Type="http://schemas.openxmlformats.org/officeDocument/2006/relationships/image" Target="../media/image62.sv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svg"/><Relationship Id="rId3" Type="http://schemas.openxmlformats.org/officeDocument/2006/relationships/image" Target="../media/image18.svg"/><Relationship Id="rId7" Type="http://schemas.openxmlformats.org/officeDocument/2006/relationships/image" Target="../media/image76.svg"/><Relationship Id="rId12" Type="http://schemas.openxmlformats.org/officeDocument/2006/relationships/image" Target="../media/image8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svg"/><Relationship Id="rId5" Type="http://schemas.openxmlformats.org/officeDocument/2006/relationships/image" Target="../media/image74.svg"/><Relationship Id="rId15" Type="http://schemas.openxmlformats.org/officeDocument/2006/relationships/image" Target="../media/image84.sv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svg"/><Relationship Id="rId14" Type="http://schemas.openxmlformats.org/officeDocument/2006/relationships/image" Target="../media/image8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svg"/><Relationship Id="rId7" Type="http://schemas.openxmlformats.org/officeDocument/2006/relationships/image" Target="../media/image56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svg"/><Relationship Id="rId5" Type="http://schemas.openxmlformats.org/officeDocument/2006/relationships/image" Target="../media/image54.sv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9832462" y="3457204"/>
            <a:ext cx="1152144" cy="4114800"/>
          </a:xfrm>
          <a:custGeom>
            <a:avLst/>
            <a:gdLst/>
            <a:ahLst/>
            <a:cxnLst/>
            <a:rect l="l" t="t" r="r" b="b"/>
            <a:pathLst>
              <a:path w="1152144" h="4114800">
                <a:moveTo>
                  <a:pt x="0" y="0"/>
                </a:moveTo>
                <a:lnTo>
                  <a:pt x="1152144" y="0"/>
                </a:lnTo>
                <a:lnTo>
                  <a:pt x="11521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115795" y="6557585"/>
            <a:ext cx="5695225" cy="4114800"/>
          </a:xfrm>
          <a:custGeom>
            <a:avLst/>
            <a:gdLst/>
            <a:ahLst/>
            <a:cxnLst/>
            <a:rect l="l" t="t" r="r" b="b"/>
            <a:pathLst>
              <a:path w="5695225" h="4114800">
                <a:moveTo>
                  <a:pt x="0" y="0"/>
                </a:moveTo>
                <a:lnTo>
                  <a:pt x="5695225" y="0"/>
                </a:lnTo>
                <a:lnTo>
                  <a:pt x="56952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31025" y="1114425"/>
            <a:ext cx="11238203" cy="186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3600" b="1" i="1" spc="12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Hybrid </a:t>
            </a:r>
            <a:r>
              <a:rPr lang="en-US" sz="3600" b="1" i="1" spc="12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sz="3600" b="1" i="1" spc="12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–CNN Architecture for Robust</a:t>
            </a:r>
          </a:p>
          <a:p>
            <a:pPr algn="ctr">
              <a:lnSpc>
                <a:spcPts val="5000"/>
              </a:lnSpc>
            </a:pPr>
            <a:r>
              <a:rPr lang="en-US" sz="3600" b="1" i="1" spc="12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Sign Recognition in Bangladeshi Road</a:t>
            </a:r>
          </a:p>
          <a:p>
            <a:pPr algn="ctr">
              <a:lnSpc>
                <a:spcPts val="5000"/>
              </a:lnSpc>
            </a:pPr>
            <a:r>
              <a:rPr lang="en-US" sz="3600" b="1" i="1" spc="12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5514604"/>
            <a:ext cx="8357260" cy="12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Andada Pro"/>
              </a:rPr>
              <a:t>Name: </a:t>
            </a:r>
            <a:r>
              <a:rPr lang="en-US" sz="2400" dirty="0" err="1">
                <a:solidFill>
                  <a:srgbClr val="000000"/>
                </a:solidFill>
                <a:latin typeface="Andada Pro"/>
              </a:rPr>
              <a:t>Mst</a:t>
            </a:r>
            <a:r>
              <a:rPr lang="en-US" sz="2400" dirty="0">
                <a:solidFill>
                  <a:srgbClr val="000000"/>
                </a:solidFill>
                <a:latin typeface="Andada Pro"/>
              </a:rPr>
              <a:t>. Hasina Khatun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Andada Pro"/>
              </a:rPr>
              <a:t>Department</a:t>
            </a:r>
            <a:r>
              <a:rPr lang="en-US" sz="2400" dirty="0">
                <a:solidFill>
                  <a:srgbClr val="000000"/>
                </a:solidFill>
                <a:latin typeface="Andada Pro"/>
              </a:rPr>
              <a:t>: Information and Communication Technology  Islamic University | </a:t>
            </a:r>
            <a:r>
              <a:rPr lang="en-US" sz="2400" dirty="0" err="1">
                <a:solidFill>
                  <a:srgbClr val="000000"/>
                </a:solidFill>
                <a:latin typeface="Andada Pro"/>
              </a:rPr>
              <a:t>Kushtia</a:t>
            </a:r>
            <a:r>
              <a:rPr lang="en-US" sz="2400" dirty="0">
                <a:solidFill>
                  <a:srgbClr val="000000"/>
                </a:solidFill>
                <a:latin typeface="Andada Pro"/>
              </a:rPr>
              <a:t> - 7003,Bangladesh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6E6FDBD-C379-4701-002F-7195A27422A8}"/>
              </a:ext>
            </a:extLst>
          </p:cNvPr>
          <p:cNvSpPr/>
          <p:nvPr/>
        </p:nvSpPr>
        <p:spPr>
          <a:xfrm>
            <a:off x="11963400" y="342900"/>
            <a:ext cx="5562600" cy="9563100"/>
          </a:xfrm>
          <a:prstGeom prst="round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3123425" y="2554901"/>
            <a:ext cx="877310" cy="906085"/>
            <a:chOff x="0" y="0"/>
            <a:chExt cx="6350000" cy="6558280"/>
          </a:xfrm>
        </p:grpSpPr>
        <p:sp>
          <p:nvSpPr>
            <p:cNvPr id="4" name="Freeform 4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-1679" r="-16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F5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3123425" y="3687195"/>
            <a:ext cx="877310" cy="906085"/>
            <a:chOff x="0" y="0"/>
            <a:chExt cx="6350000" cy="6558280"/>
          </a:xfrm>
        </p:grpSpPr>
        <p:sp>
          <p:nvSpPr>
            <p:cNvPr id="7" name="Freeform 7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-1679" r="-16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F5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3123425" y="4819489"/>
            <a:ext cx="877310" cy="906085"/>
            <a:chOff x="0" y="0"/>
            <a:chExt cx="6350000" cy="6558280"/>
          </a:xfrm>
        </p:grpSpPr>
        <p:sp>
          <p:nvSpPr>
            <p:cNvPr id="10" name="Freeform 10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-1679" r="-16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F5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3123425" y="5951783"/>
            <a:ext cx="877310" cy="906085"/>
            <a:chOff x="0" y="0"/>
            <a:chExt cx="6350000" cy="6558280"/>
          </a:xfrm>
        </p:grpSpPr>
        <p:sp>
          <p:nvSpPr>
            <p:cNvPr id="13" name="Freeform 13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-1679" r="-16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F5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3123425" y="7112813"/>
            <a:ext cx="877310" cy="906085"/>
            <a:chOff x="0" y="0"/>
            <a:chExt cx="6350000" cy="6558280"/>
          </a:xfrm>
        </p:grpSpPr>
        <p:sp>
          <p:nvSpPr>
            <p:cNvPr id="16" name="Freeform 16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-1679" r="-16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F5E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591284" y="2766024"/>
            <a:ext cx="376619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300">
                <a:solidFill>
                  <a:srgbClr val="290F02"/>
                </a:solidFill>
                <a:latin typeface="Andada Pro"/>
              </a:rPr>
              <a:t>Introduction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91284" y="3950181"/>
            <a:ext cx="376619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300">
                <a:solidFill>
                  <a:srgbClr val="290F02"/>
                </a:solidFill>
                <a:latin typeface="Andada Pro"/>
              </a:rPr>
              <a:t>Motivation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91284" y="4998227"/>
            <a:ext cx="4525201" cy="49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300" dirty="0">
                <a:solidFill>
                  <a:srgbClr val="290F02"/>
                </a:solidFill>
                <a:latin typeface="Andada Pro"/>
              </a:rPr>
              <a:t>Objectives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91284" y="6114995"/>
            <a:ext cx="4633630" cy="49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300" dirty="0">
                <a:solidFill>
                  <a:srgbClr val="290F02"/>
                </a:solidFill>
                <a:latin typeface="Andada Pro"/>
              </a:rPr>
              <a:t>Methodology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91284" y="7268202"/>
            <a:ext cx="3485916" cy="1573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300" dirty="0">
                <a:solidFill>
                  <a:srgbClr val="290F02"/>
                </a:solidFill>
                <a:latin typeface="Andada Pro"/>
              </a:rPr>
              <a:t>Proposed Model Architecture</a:t>
            </a:r>
          </a:p>
          <a:p>
            <a:pPr algn="just">
              <a:lnSpc>
                <a:spcPts val="4200"/>
              </a:lnSpc>
            </a:pPr>
            <a:endParaRPr lang="en-US" sz="3000" spc="300" dirty="0">
              <a:solidFill>
                <a:srgbClr val="290F02"/>
              </a:solidFill>
              <a:latin typeface="Andada Pr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901842" y="2779880"/>
            <a:ext cx="4235305" cy="496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00" dirty="0">
                <a:solidFill>
                  <a:srgbClr val="290F02"/>
                </a:solidFill>
                <a:latin typeface="Andada Pro"/>
              </a:rPr>
              <a:t>Result Comparison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920533" y="3855959"/>
            <a:ext cx="4853007" cy="49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00" dirty="0">
                <a:solidFill>
                  <a:srgbClr val="290F02"/>
                </a:solidFill>
                <a:latin typeface="Andada Pro"/>
              </a:rPr>
              <a:t>Evaluation Matrices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19095" y="5024450"/>
            <a:ext cx="5378305" cy="496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00" dirty="0">
                <a:solidFill>
                  <a:srgbClr val="290F02"/>
                </a:solidFill>
                <a:latin typeface="Andada Pro"/>
              </a:rPr>
              <a:t>Accuracy Plots &amp; Curves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16585" y="6156744"/>
            <a:ext cx="2769390" cy="49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00" dirty="0">
                <a:solidFill>
                  <a:srgbClr val="290F02"/>
                </a:solidFill>
                <a:latin typeface="Andada Pro"/>
              </a:rPr>
              <a:t>Discussion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919095" y="7303917"/>
            <a:ext cx="398130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00" dirty="0">
                <a:solidFill>
                  <a:srgbClr val="290F02"/>
                </a:solidFill>
                <a:latin typeface="Andada Pro"/>
              </a:rPr>
              <a:t>Future Directions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56159" y="740690"/>
            <a:ext cx="5201841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290F02"/>
                </a:solidFill>
                <a:latin typeface="Andada Pro Bold"/>
              </a:rPr>
              <a:t>Table of Content</a:t>
            </a:r>
          </a:p>
        </p:txBody>
      </p: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10451235" y="2540534"/>
            <a:ext cx="877310" cy="906085"/>
            <a:chOff x="0" y="0"/>
            <a:chExt cx="6350000" cy="6558280"/>
          </a:xfrm>
        </p:grpSpPr>
        <p:sp>
          <p:nvSpPr>
            <p:cNvPr id="30" name="Freeform 30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-1679" r="-16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F5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>
            <a:grpSpLocks noChangeAspect="1"/>
          </p:cNvGrpSpPr>
          <p:nvPr/>
        </p:nvGrpSpPr>
        <p:grpSpPr>
          <a:xfrm>
            <a:off x="10451235" y="3672828"/>
            <a:ext cx="877310" cy="906085"/>
            <a:chOff x="0" y="0"/>
            <a:chExt cx="6350000" cy="6558280"/>
          </a:xfrm>
        </p:grpSpPr>
        <p:sp>
          <p:nvSpPr>
            <p:cNvPr id="33" name="Freeform 33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-1679" r="-16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F5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10451235" y="4805122"/>
            <a:ext cx="877310" cy="906085"/>
            <a:chOff x="0" y="0"/>
            <a:chExt cx="6350000" cy="6558280"/>
          </a:xfrm>
        </p:grpSpPr>
        <p:sp>
          <p:nvSpPr>
            <p:cNvPr id="36" name="Freeform 36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-1679" r="-16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F5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>
            <a:grpSpLocks noChangeAspect="1"/>
          </p:cNvGrpSpPr>
          <p:nvPr/>
        </p:nvGrpSpPr>
        <p:grpSpPr>
          <a:xfrm>
            <a:off x="10451235" y="5937416"/>
            <a:ext cx="877310" cy="906085"/>
            <a:chOff x="0" y="0"/>
            <a:chExt cx="6350000" cy="6558280"/>
          </a:xfrm>
        </p:grpSpPr>
        <p:sp>
          <p:nvSpPr>
            <p:cNvPr id="39" name="Freeform 39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-1679" r="-16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F5E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>
            <a:grpSpLocks noChangeAspect="1"/>
          </p:cNvGrpSpPr>
          <p:nvPr/>
        </p:nvGrpSpPr>
        <p:grpSpPr>
          <a:xfrm>
            <a:off x="10451235" y="7098445"/>
            <a:ext cx="877310" cy="906085"/>
            <a:chOff x="0" y="0"/>
            <a:chExt cx="6350000" cy="6558280"/>
          </a:xfrm>
        </p:grpSpPr>
        <p:sp>
          <p:nvSpPr>
            <p:cNvPr id="42" name="Freeform 42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-1679" r="-167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F5ED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52051" y="3177030"/>
            <a:ext cx="5320050" cy="2180787"/>
            <a:chOff x="0" y="0"/>
            <a:chExt cx="1457200" cy="597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200" cy="597333"/>
            </a:xfrm>
            <a:custGeom>
              <a:avLst/>
              <a:gdLst/>
              <a:ahLst/>
              <a:cxnLst/>
              <a:rect l="l" t="t" r="r" b="b"/>
              <a:pathLst>
                <a:path w="1457200" h="597333">
                  <a:moveTo>
                    <a:pt x="48023" y="0"/>
                  </a:moveTo>
                  <a:lnTo>
                    <a:pt x="1409177" y="0"/>
                  </a:lnTo>
                  <a:cubicBezTo>
                    <a:pt x="1435700" y="0"/>
                    <a:pt x="1457200" y="21501"/>
                    <a:pt x="1457200" y="48023"/>
                  </a:cubicBezTo>
                  <a:lnTo>
                    <a:pt x="1457200" y="549311"/>
                  </a:lnTo>
                  <a:cubicBezTo>
                    <a:pt x="1457200" y="562047"/>
                    <a:pt x="1452141" y="574262"/>
                    <a:pt x="1443135" y="583268"/>
                  </a:cubicBezTo>
                  <a:cubicBezTo>
                    <a:pt x="1434129" y="592274"/>
                    <a:pt x="1421914" y="597333"/>
                    <a:pt x="1409177" y="597333"/>
                  </a:cubicBezTo>
                  <a:lnTo>
                    <a:pt x="48023" y="597333"/>
                  </a:lnTo>
                  <a:cubicBezTo>
                    <a:pt x="21501" y="597333"/>
                    <a:pt x="0" y="575833"/>
                    <a:pt x="0" y="549311"/>
                  </a:cubicBezTo>
                  <a:lnTo>
                    <a:pt x="0" y="48023"/>
                  </a:lnTo>
                  <a:cubicBezTo>
                    <a:pt x="0" y="21501"/>
                    <a:pt x="21501" y="0"/>
                    <a:pt x="4802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457200" cy="66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452051" y="3177030"/>
            <a:ext cx="213989" cy="2180787"/>
            <a:chOff x="0" y="0"/>
            <a:chExt cx="58613" cy="597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613" cy="597333"/>
            </a:xfrm>
            <a:custGeom>
              <a:avLst/>
              <a:gdLst/>
              <a:ahLst/>
              <a:cxnLst/>
              <a:rect l="l" t="t" r="r" b="b"/>
              <a:pathLst>
                <a:path w="58613" h="597333">
                  <a:moveTo>
                    <a:pt x="29307" y="0"/>
                  </a:moveTo>
                  <a:lnTo>
                    <a:pt x="29307" y="0"/>
                  </a:lnTo>
                  <a:cubicBezTo>
                    <a:pt x="37079" y="0"/>
                    <a:pt x="44533" y="3088"/>
                    <a:pt x="50029" y="8584"/>
                  </a:cubicBezTo>
                  <a:cubicBezTo>
                    <a:pt x="55526" y="14080"/>
                    <a:pt x="58613" y="21534"/>
                    <a:pt x="58613" y="29307"/>
                  </a:cubicBezTo>
                  <a:lnTo>
                    <a:pt x="58613" y="568027"/>
                  </a:lnTo>
                  <a:cubicBezTo>
                    <a:pt x="58613" y="575799"/>
                    <a:pt x="55526" y="583254"/>
                    <a:pt x="50029" y="588750"/>
                  </a:cubicBezTo>
                  <a:cubicBezTo>
                    <a:pt x="44533" y="594246"/>
                    <a:pt x="37079" y="597333"/>
                    <a:pt x="29307" y="597333"/>
                  </a:cubicBezTo>
                  <a:lnTo>
                    <a:pt x="29307" y="597333"/>
                  </a:lnTo>
                  <a:cubicBezTo>
                    <a:pt x="21534" y="597333"/>
                    <a:pt x="14080" y="594246"/>
                    <a:pt x="8584" y="588750"/>
                  </a:cubicBezTo>
                  <a:cubicBezTo>
                    <a:pt x="3088" y="583254"/>
                    <a:pt x="0" y="575799"/>
                    <a:pt x="0" y="568027"/>
                  </a:cubicBezTo>
                  <a:lnTo>
                    <a:pt x="0" y="29307"/>
                  </a:lnTo>
                  <a:cubicBezTo>
                    <a:pt x="0" y="21534"/>
                    <a:pt x="3088" y="14080"/>
                    <a:pt x="8584" y="8584"/>
                  </a:cubicBezTo>
                  <a:cubicBezTo>
                    <a:pt x="14080" y="3088"/>
                    <a:pt x="21534" y="0"/>
                    <a:pt x="29307" y="0"/>
                  </a:cubicBezTo>
                  <a:close/>
                </a:path>
              </a:pathLst>
            </a:custGeom>
            <a:solidFill>
              <a:srgbClr val="3275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58613" cy="66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29084" y="3177030"/>
            <a:ext cx="1294453" cy="129445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521" y="0"/>
                  </a:moveTo>
                  <a:lnTo>
                    <a:pt x="663279" y="0"/>
                  </a:lnTo>
                  <a:cubicBezTo>
                    <a:pt x="702934" y="0"/>
                    <a:pt x="740966" y="15753"/>
                    <a:pt x="769006" y="43794"/>
                  </a:cubicBezTo>
                  <a:cubicBezTo>
                    <a:pt x="797047" y="71834"/>
                    <a:pt x="812800" y="109866"/>
                    <a:pt x="812800" y="149521"/>
                  </a:cubicBezTo>
                  <a:lnTo>
                    <a:pt x="812800" y="663279"/>
                  </a:lnTo>
                  <a:cubicBezTo>
                    <a:pt x="812800" y="702934"/>
                    <a:pt x="797047" y="740966"/>
                    <a:pt x="769006" y="769006"/>
                  </a:cubicBezTo>
                  <a:cubicBezTo>
                    <a:pt x="740966" y="797047"/>
                    <a:pt x="702934" y="812800"/>
                    <a:pt x="663279" y="812800"/>
                  </a:cubicBezTo>
                  <a:lnTo>
                    <a:pt x="149521" y="812800"/>
                  </a:lnTo>
                  <a:cubicBezTo>
                    <a:pt x="109866" y="812800"/>
                    <a:pt x="71834" y="797047"/>
                    <a:pt x="43794" y="769006"/>
                  </a:cubicBezTo>
                  <a:cubicBezTo>
                    <a:pt x="15753" y="740966"/>
                    <a:pt x="0" y="702934"/>
                    <a:pt x="0" y="663279"/>
                  </a:cubicBezTo>
                  <a:lnTo>
                    <a:pt x="0" y="149521"/>
                  </a:lnTo>
                  <a:cubicBezTo>
                    <a:pt x="0" y="109866"/>
                    <a:pt x="15753" y="71834"/>
                    <a:pt x="43794" y="43794"/>
                  </a:cubicBezTo>
                  <a:cubicBezTo>
                    <a:pt x="71834" y="15753"/>
                    <a:pt x="109866" y="0"/>
                    <a:pt x="149521" y="0"/>
                  </a:cubicBezTo>
                  <a:close/>
                </a:path>
              </a:pathLst>
            </a:custGeom>
            <a:solidFill>
              <a:srgbClr val="3275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65437" y="2933608"/>
            <a:ext cx="6115366" cy="2424209"/>
            <a:chOff x="0" y="-66675"/>
            <a:chExt cx="1675043" cy="6640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7750" cy="597333"/>
            </a:xfrm>
            <a:custGeom>
              <a:avLst/>
              <a:gdLst/>
              <a:ahLst/>
              <a:cxnLst/>
              <a:rect l="l" t="t" r="r" b="b"/>
              <a:pathLst>
                <a:path w="1367750" h="597333">
                  <a:moveTo>
                    <a:pt x="51163" y="0"/>
                  </a:moveTo>
                  <a:lnTo>
                    <a:pt x="1316586" y="0"/>
                  </a:lnTo>
                  <a:cubicBezTo>
                    <a:pt x="1344843" y="0"/>
                    <a:pt x="1367750" y="22907"/>
                    <a:pt x="1367750" y="51163"/>
                  </a:cubicBezTo>
                  <a:lnTo>
                    <a:pt x="1367750" y="546170"/>
                  </a:lnTo>
                  <a:cubicBezTo>
                    <a:pt x="1367750" y="559739"/>
                    <a:pt x="1362359" y="572753"/>
                    <a:pt x="1352764" y="582348"/>
                  </a:cubicBezTo>
                  <a:cubicBezTo>
                    <a:pt x="1343169" y="591943"/>
                    <a:pt x="1330156" y="597333"/>
                    <a:pt x="1316586" y="597333"/>
                  </a:cubicBezTo>
                  <a:lnTo>
                    <a:pt x="51163" y="597333"/>
                  </a:lnTo>
                  <a:cubicBezTo>
                    <a:pt x="22907" y="597333"/>
                    <a:pt x="0" y="574427"/>
                    <a:pt x="0" y="546170"/>
                  </a:cubicBezTo>
                  <a:lnTo>
                    <a:pt x="0" y="51163"/>
                  </a:lnTo>
                  <a:cubicBezTo>
                    <a:pt x="0" y="22907"/>
                    <a:pt x="22907" y="0"/>
                    <a:pt x="511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675043" cy="66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200" b="1" dirty="0">
                  <a:latin typeface="Andada Pro Bold" panose="020B0604020202020204" charset="0"/>
                </a:rPr>
                <a:t>Traffic sign </a:t>
              </a:r>
              <a:r>
                <a:rPr lang="en-US" sz="3000" b="1" dirty="0">
                  <a:latin typeface="Andada Pro Bold" panose="020B0604020202020204" charset="0"/>
                </a:rPr>
                <a:t>recognition</a:t>
              </a:r>
              <a:r>
                <a:rPr lang="en-US" sz="3200" b="1" dirty="0">
                  <a:latin typeface="Andada Pro Bold" panose="020B0604020202020204" charset="0"/>
                </a:rPr>
                <a:t> for road safety and ITS(Intelligent  Transportation Systems )</a:t>
              </a:r>
              <a:endParaRPr lang="en-US" sz="3000" b="1" spc="96" dirty="0">
                <a:solidFill>
                  <a:srgbClr val="000000"/>
                </a:solidFill>
                <a:latin typeface="Andada Pro Bold" panose="020B0604020202020204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038866" y="3177030"/>
            <a:ext cx="213989" cy="2180787"/>
            <a:chOff x="0" y="0"/>
            <a:chExt cx="58613" cy="5973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8613" cy="597333"/>
            </a:xfrm>
            <a:custGeom>
              <a:avLst/>
              <a:gdLst/>
              <a:ahLst/>
              <a:cxnLst/>
              <a:rect l="l" t="t" r="r" b="b"/>
              <a:pathLst>
                <a:path w="58613" h="597333">
                  <a:moveTo>
                    <a:pt x="29307" y="0"/>
                  </a:moveTo>
                  <a:lnTo>
                    <a:pt x="29307" y="0"/>
                  </a:lnTo>
                  <a:cubicBezTo>
                    <a:pt x="37079" y="0"/>
                    <a:pt x="44533" y="3088"/>
                    <a:pt x="50029" y="8584"/>
                  </a:cubicBezTo>
                  <a:cubicBezTo>
                    <a:pt x="55526" y="14080"/>
                    <a:pt x="58613" y="21534"/>
                    <a:pt x="58613" y="29307"/>
                  </a:cubicBezTo>
                  <a:lnTo>
                    <a:pt x="58613" y="568027"/>
                  </a:lnTo>
                  <a:cubicBezTo>
                    <a:pt x="58613" y="575799"/>
                    <a:pt x="55526" y="583254"/>
                    <a:pt x="50029" y="588750"/>
                  </a:cubicBezTo>
                  <a:cubicBezTo>
                    <a:pt x="44533" y="594246"/>
                    <a:pt x="37079" y="597333"/>
                    <a:pt x="29307" y="597333"/>
                  </a:cubicBezTo>
                  <a:lnTo>
                    <a:pt x="29307" y="597333"/>
                  </a:lnTo>
                  <a:cubicBezTo>
                    <a:pt x="21534" y="597333"/>
                    <a:pt x="14080" y="594246"/>
                    <a:pt x="8584" y="588750"/>
                  </a:cubicBezTo>
                  <a:cubicBezTo>
                    <a:pt x="3088" y="583254"/>
                    <a:pt x="0" y="575799"/>
                    <a:pt x="0" y="568027"/>
                  </a:cubicBezTo>
                  <a:lnTo>
                    <a:pt x="0" y="29307"/>
                  </a:lnTo>
                  <a:cubicBezTo>
                    <a:pt x="0" y="21534"/>
                    <a:pt x="3088" y="14080"/>
                    <a:pt x="8584" y="8584"/>
                  </a:cubicBezTo>
                  <a:cubicBezTo>
                    <a:pt x="14080" y="3088"/>
                    <a:pt x="21534" y="0"/>
                    <a:pt x="29307" y="0"/>
                  </a:cubicBezTo>
                  <a:close/>
                </a:path>
              </a:pathLst>
            </a:custGeom>
            <a:solidFill>
              <a:srgbClr val="235A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58613" cy="66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15899" y="3177030"/>
            <a:ext cx="1294453" cy="129445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521" y="0"/>
                  </a:moveTo>
                  <a:lnTo>
                    <a:pt x="663279" y="0"/>
                  </a:lnTo>
                  <a:cubicBezTo>
                    <a:pt x="702934" y="0"/>
                    <a:pt x="740966" y="15753"/>
                    <a:pt x="769006" y="43794"/>
                  </a:cubicBezTo>
                  <a:cubicBezTo>
                    <a:pt x="797047" y="71834"/>
                    <a:pt x="812800" y="109866"/>
                    <a:pt x="812800" y="149521"/>
                  </a:cubicBezTo>
                  <a:lnTo>
                    <a:pt x="812800" y="663279"/>
                  </a:lnTo>
                  <a:cubicBezTo>
                    <a:pt x="812800" y="702934"/>
                    <a:pt x="797047" y="740966"/>
                    <a:pt x="769006" y="769006"/>
                  </a:cubicBezTo>
                  <a:cubicBezTo>
                    <a:pt x="740966" y="797047"/>
                    <a:pt x="702934" y="812800"/>
                    <a:pt x="663279" y="812800"/>
                  </a:cubicBezTo>
                  <a:lnTo>
                    <a:pt x="149521" y="812800"/>
                  </a:lnTo>
                  <a:cubicBezTo>
                    <a:pt x="109866" y="812800"/>
                    <a:pt x="71834" y="797047"/>
                    <a:pt x="43794" y="769006"/>
                  </a:cubicBezTo>
                  <a:cubicBezTo>
                    <a:pt x="15753" y="740966"/>
                    <a:pt x="0" y="702934"/>
                    <a:pt x="0" y="663279"/>
                  </a:cubicBezTo>
                  <a:lnTo>
                    <a:pt x="0" y="149521"/>
                  </a:lnTo>
                  <a:cubicBezTo>
                    <a:pt x="0" y="109866"/>
                    <a:pt x="15753" y="71834"/>
                    <a:pt x="43794" y="43794"/>
                  </a:cubicBezTo>
                  <a:cubicBezTo>
                    <a:pt x="71834" y="15753"/>
                    <a:pt x="109866" y="0"/>
                    <a:pt x="149521" y="0"/>
                  </a:cubicBezTo>
                  <a:close/>
                </a:path>
              </a:pathLst>
            </a:custGeom>
            <a:solidFill>
              <a:srgbClr val="235A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038866" y="6210300"/>
            <a:ext cx="5320050" cy="2180787"/>
            <a:chOff x="0" y="0"/>
            <a:chExt cx="1457200" cy="5973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57200" cy="597333"/>
            </a:xfrm>
            <a:custGeom>
              <a:avLst/>
              <a:gdLst/>
              <a:ahLst/>
              <a:cxnLst/>
              <a:rect l="l" t="t" r="r" b="b"/>
              <a:pathLst>
                <a:path w="1457200" h="597333">
                  <a:moveTo>
                    <a:pt x="48023" y="0"/>
                  </a:moveTo>
                  <a:lnTo>
                    <a:pt x="1409177" y="0"/>
                  </a:lnTo>
                  <a:cubicBezTo>
                    <a:pt x="1435700" y="0"/>
                    <a:pt x="1457200" y="21501"/>
                    <a:pt x="1457200" y="48023"/>
                  </a:cubicBezTo>
                  <a:lnTo>
                    <a:pt x="1457200" y="549311"/>
                  </a:lnTo>
                  <a:cubicBezTo>
                    <a:pt x="1457200" y="562047"/>
                    <a:pt x="1452141" y="574262"/>
                    <a:pt x="1443135" y="583268"/>
                  </a:cubicBezTo>
                  <a:cubicBezTo>
                    <a:pt x="1434129" y="592274"/>
                    <a:pt x="1421914" y="597333"/>
                    <a:pt x="1409177" y="597333"/>
                  </a:cubicBezTo>
                  <a:lnTo>
                    <a:pt x="48023" y="597333"/>
                  </a:lnTo>
                  <a:cubicBezTo>
                    <a:pt x="21501" y="597333"/>
                    <a:pt x="0" y="575833"/>
                    <a:pt x="0" y="549311"/>
                  </a:cubicBezTo>
                  <a:lnTo>
                    <a:pt x="0" y="48023"/>
                  </a:lnTo>
                  <a:cubicBezTo>
                    <a:pt x="0" y="21501"/>
                    <a:pt x="21501" y="0"/>
                    <a:pt x="4802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457200" cy="66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038866" y="6258028"/>
            <a:ext cx="213989" cy="2180787"/>
            <a:chOff x="0" y="0"/>
            <a:chExt cx="58613" cy="5973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8613" cy="597333"/>
            </a:xfrm>
            <a:custGeom>
              <a:avLst/>
              <a:gdLst/>
              <a:ahLst/>
              <a:cxnLst/>
              <a:rect l="l" t="t" r="r" b="b"/>
              <a:pathLst>
                <a:path w="58613" h="597333">
                  <a:moveTo>
                    <a:pt x="29307" y="0"/>
                  </a:moveTo>
                  <a:lnTo>
                    <a:pt x="29307" y="0"/>
                  </a:lnTo>
                  <a:cubicBezTo>
                    <a:pt x="37079" y="0"/>
                    <a:pt x="44533" y="3088"/>
                    <a:pt x="50029" y="8584"/>
                  </a:cubicBezTo>
                  <a:cubicBezTo>
                    <a:pt x="55526" y="14080"/>
                    <a:pt x="58613" y="21534"/>
                    <a:pt x="58613" y="29307"/>
                  </a:cubicBezTo>
                  <a:lnTo>
                    <a:pt x="58613" y="568027"/>
                  </a:lnTo>
                  <a:cubicBezTo>
                    <a:pt x="58613" y="575799"/>
                    <a:pt x="55526" y="583254"/>
                    <a:pt x="50029" y="588750"/>
                  </a:cubicBezTo>
                  <a:cubicBezTo>
                    <a:pt x="44533" y="594246"/>
                    <a:pt x="37079" y="597333"/>
                    <a:pt x="29307" y="597333"/>
                  </a:cubicBezTo>
                  <a:lnTo>
                    <a:pt x="29307" y="597333"/>
                  </a:lnTo>
                  <a:cubicBezTo>
                    <a:pt x="21534" y="597333"/>
                    <a:pt x="14080" y="594246"/>
                    <a:pt x="8584" y="588750"/>
                  </a:cubicBezTo>
                  <a:cubicBezTo>
                    <a:pt x="3088" y="583254"/>
                    <a:pt x="0" y="575799"/>
                    <a:pt x="0" y="568027"/>
                  </a:cubicBezTo>
                  <a:lnTo>
                    <a:pt x="0" y="29307"/>
                  </a:lnTo>
                  <a:cubicBezTo>
                    <a:pt x="0" y="21534"/>
                    <a:pt x="3088" y="14080"/>
                    <a:pt x="8584" y="8584"/>
                  </a:cubicBezTo>
                  <a:cubicBezTo>
                    <a:pt x="14080" y="3088"/>
                    <a:pt x="21534" y="0"/>
                    <a:pt x="29307" y="0"/>
                  </a:cubicBezTo>
                  <a:close/>
                </a:path>
              </a:pathLst>
            </a:custGeom>
            <a:solidFill>
              <a:srgbClr val="40878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58613" cy="66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15899" y="6258028"/>
            <a:ext cx="1294453" cy="1294453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521" y="0"/>
                  </a:moveTo>
                  <a:lnTo>
                    <a:pt x="663279" y="0"/>
                  </a:lnTo>
                  <a:cubicBezTo>
                    <a:pt x="702934" y="0"/>
                    <a:pt x="740966" y="15753"/>
                    <a:pt x="769006" y="43794"/>
                  </a:cubicBezTo>
                  <a:cubicBezTo>
                    <a:pt x="797047" y="71834"/>
                    <a:pt x="812800" y="109866"/>
                    <a:pt x="812800" y="149521"/>
                  </a:cubicBezTo>
                  <a:lnTo>
                    <a:pt x="812800" y="663279"/>
                  </a:lnTo>
                  <a:cubicBezTo>
                    <a:pt x="812800" y="702934"/>
                    <a:pt x="797047" y="740966"/>
                    <a:pt x="769006" y="769006"/>
                  </a:cubicBezTo>
                  <a:cubicBezTo>
                    <a:pt x="740966" y="797047"/>
                    <a:pt x="702934" y="812800"/>
                    <a:pt x="663279" y="812800"/>
                  </a:cubicBezTo>
                  <a:lnTo>
                    <a:pt x="149521" y="812800"/>
                  </a:lnTo>
                  <a:cubicBezTo>
                    <a:pt x="109866" y="812800"/>
                    <a:pt x="71834" y="797047"/>
                    <a:pt x="43794" y="769006"/>
                  </a:cubicBezTo>
                  <a:cubicBezTo>
                    <a:pt x="15753" y="740966"/>
                    <a:pt x="0" y="702934"/>
                    <a:pt x="0" y="663279"/>
                  </a:cubicBezTo>
                  <a:lnTo>
                    <a:pt x="0" y="149521"/>
                  </a:lnTo>
                  <a:cubicBezTo>
                    <a:pt x="0" y="109866"/>
                    <a:pt x="15753" y="71834"/>
                    <a:pt x="43794" y="43794"/>
                  </a:cubicBezTo>
                  <a:cubicBezTo>
                    <a:pt x="71834" y="15753"/>
                    <a:pt x="109866" y="0"/>
                    <a:pt x="149521" y="0"/>
                  </a:cubicBezTo>
                  <a:close/>
                </a:path>
              </a:pathLst>
            </a:custGeom>
            <a:solidFill>
              <a:srgbClr val="40878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807108" y="6625336"/>
            <a:ext cx="712033" cy="559836"/>
          </a:xfrm>
          <a:custGeom>
            <a:avLst/>
            <a:gdLst/>
            <a:ahLst/>
            <a:cxnLst/>
            <a:rect l="l" t="t" r="r" b="b"/>
            <a:pathLst>
              <a:path w="712033" h="559836">
                <a:moveTo>
                  <a:pt x="0" y="0"/>
                </a:moveTo>
                <a:lnTo>
                  <a:pt x="712033" y="0"/>
                </a:lnTo>
                <a:lnTo>
                  <a:pt x="712033" y="559836"/>
                </a:lnTo>
                <a:lnTo>
                  <a:pt x="0" y="559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11452051" y="6258028"/>
            <a:ext cx="5320050" cy="2180787"/>
            <a:chOff x="0" y="0"/>
            <a:chExt cx="1457200" cy="59733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57200" cy="597333"/>
            </a:xfrm>
            <a:custGeom>
              <a:avLst/>
              <a:gdLst/>
              <a:ahLst/>
              <a:cxnLst/>
              <a:rect l="l" t="t" r="r" b="b"/>
              <a:pathLst>
                <a:path w="1457200" h="597333">
                  <a:moveTo>
                    <a:pt x="48023" y="0"/>
                  </a:moveTo>
                  <a:lnTo>
                    <a:pt x="1409177" y="0"/>
                  </a:lnTo>
                  <a:cubicBezTo>
                    <a:pt x="1435700" y="0"/>
                    <a:pt x="1457200" y="21501"/>
                    <a:pt x="1457200" y="48023"/>
                  </a:cubicBezTo>
                  <a:lnTo>
                    <a:pt x="1457200" y="549311"/>
                  </a:lnTo>
                  <a:cubicBezTo>
                    <a:pt x="1457200" y="562047"/>
                    <a:pt x="1452141" y="574262"/>
                    <a:pt x="1443135" y="583268"/>
                  </a:cubicBezTo>
                  <a:cubicBezTo>
                    <a:pt x="1434129" y="592274"/>
                    <a:pt x="1421914" y="597333"/>
                    <a:pt x="1409177" y="597333"/>
                  </a:cubicBezTo>
                  <a:lnTo>
                    <a:pt x="48023" y="597333"/>
                  </a:lnTo>
                  <a:cubicBezTo>
                    <a:pt x="21501" y="597333"/>
                    <a:pt x="0" y="575833"/>
                    <a:pt x="0" y="549311"/>
                  </a:cubicBezTo>
                  <a:lnTo>
                    <a:pt x="0" y="48023"/>
                  </a:lnTo>
                  <a:cubicBezTo>
                    <a:pt x="0" y="21501"/>
                    <a:pt x="21501" y="0"/>
                    <a:pt x="4802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1457200" cy="66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52051" y="6258028"/>
            <a:ext cx="213989" cy="2180787"/>
            <a:chOff x="0" y="0"/>
            <a:chExt cx="58613" cy="59733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8613" cy="597333"/>
            </a:xfrm>
            <a:custGeom>
              <a:avLst/>
              <a:gdLst/>
              <a:ahLst/>
              <a:cxnLst/>
              <a:rect l="l" t="t" r="r" b="b"/>
              <a:pathLst>
                <a:path w="58613" h="597333">
                  <a:moveTo>
                    <a:pt x="29307" y="0"/>
                  </a:moveTo>
                  <a:lnTo>
                    <a:pt x="29307" y="0"/>
                  </a:lnTo>
                  <a:cubicBezTo>
                    <a:pt x="37079" y="0"/>
                    <a:pt x="44533" y="3088"/>
                    <a:pt x="50029" y="8584"/>
                  </a:cubicBezTo>
                  <a:cubicBezTo>
                    <a:pt x="55526" y="14080"/>
                    <a:pt x="58613" y="21534"/>
                    <a:pt x="58613" y="29307"/>
                  </a:cubicBezTo>
                  <a:lnTo>
                    <a:pt x="58613" y="568027"/>
                  </a:lnTo>
                  <a:cubicBezTo>
                    <a:pt x="58613" y="575799"/>
                    <a:pt x="55526" y="583254"/>
                    <a:pt x="50029" y="588750"/>
                  </a:cubicBezTo>
                  <a:cubicBezTo>
                    <a:pt x="44533" y="594246"/>
                    <a:pt x="37079" y="597333"/>
                    <a:pt x="29307" y="597333"/>
                  </a:cubicBezTo>
                  <a:lnTo>
                    <a:pt x="29307" y="597333"/>
                  </a:lnTo>
                  <a:cubicBezTo>
                    <a:pt x="21534" y="597333"/>
                    <a:pt x="14080" y="594246"/>
                    <a:pt x="8584" y="588750"/>
                  </a:cubicBezTo>
                  <a:cubicBezTo>
                    <a:pt x="3088" y="583254"/>
                    <a:pt x="0" y="575799"/>
                    <a:pt x="0" y="568027"/>
                  </a:cubicBezTo>
                  <a:lnTo>
                    <a:pt x="0" y="29307"/>
                  </a:lnTo>
                  <a:cubicBezTo>
                    <a:pt x="0" y="21534"/>
                    <a:pt x="3088" y="14080"/>
                    <a:pt x="8584" y="8584"/>
                  </a:cubicBezTo>
                  <a:cubicBezTo>
                    <a:pt x="14080" y="3088"/>
                    <a:pt x="21534" y="0"/>
                    <a:pt x="29307" y="0"/>
                  </a:cubicBezTo>
                  <a:close/>
                </a:path>
              </a:pathLst>
            </a:custGeom>
            <a:solidFill>
              <a:srgbClr val="639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58613" cy="664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929084" y="6258028"/>
            <a:ext cx="1294453" cy="1294453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521" y="0"/>
                  </a:moveTo>
                  <a:lnTo>
                    <a:pt x="663279" y="0"/>
                  </a:lnTo>
                  <a:cubicBezTo>
                    <a:pt x="702934" y="0"/>
                    <a:pt x="740966" y="15753"/>
                    <a:pt x="769006" y="43794"/>
                  </a:cubicBezTo>
                  <a:cubicBezTo>
                    <a:pt x="797047" y="71834"/>
                    <a:pt x="812800" y="109866"/>
                    <a:pt x="812800" y="149521"/>
                  </a:cubicBezTo>
                  <a:lnTo>
                    <a:pt x="812800" y="663279"/>
                  </a:lnTo>
                  <a:cubicBezTo>
                    <a:pt x="812800" y="702934"/>
                    <a:pt x="797047" y="740966"/>
                    <a:pt x="769006" y="769006"/>
                  </a:cubicBezTo>
                  <a:cubicBezTo>
                    <a:pt x="740966" y="797047"/>
                    <a:pt x="702934" y="812800"/>
                    <a:pt x="663279" y="812800"/>
                  </a:cubicBezTo>
                  <a:lnTo>
                    <a:pt x="149521" y="812800"/>
                  </a:lnTo>
                  <a:cubicBezTo>
                    <a:pt x="109866" y="812800"/>
                    <a:pt x="71834" y="797047"/>
                    <a:pt x="43794" y="769006"/>
                  </a:cubicBezTo>
                  <a:cubicBezTo>
                    <a:pt x="15753" y="740966"/>
                    <a:pt x="0" y="702934"/>
                    <a:pt x="0" y="663279"/>
                  </a:cubicBezTo>
                  <a:lnTo>
                    <a:pt x="0" y="149521"/>
                  </a:lnTo>
                  <a:cubicBezTo>
                    <a:pt x="0" y="109866"/>
                    <a:pt x="15753" y="71834"/>
                    <a:pt x="43794" y="43794"/>
                  </a:cubicBezTo>
                  <a:cubicBezTo>
                    <a:pt x="71834" y="15753"/>
                    <a:pt x="109866" y="0"/>
                    <a:pt x="149521" y="0"/>
                  </a:cubicBezTo>
                  <a:close/>
                </a:path>
              </a:pathLst>
            </a:custGeom>
            <a:solidFill>
              <a:srgbClr val="639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10300441" y="6639385"/>
            <a:ext cx="551738" cy="531738"/>
          </a:xfrm>
          <a:custGeom>
            <a:avLst/>
            <a:gdLst/>
            <a:ahLst/>
            <a:cxnLst/>
            <a:rect l="l" t="t" r="r" b="b"/>
            <a:pathLst>
              <a:path w="551738" h="531738">
                <a:moveTo>
                  <a:pt x="0" y="0"/>
                </a:moveTo>
                <a:lnTo>
                  <a:pt x="551738" y="0"/>
                </a:lnTo>
                <a:lnTo>
                  <a:pt x="551738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16034057" y="-269190"/>
            <a:ext cx="2450485" cy="1131645"/>
          </a:xfrm>
          <a:custGeom>
            <a:avLst/>
            <a:gdLst/>
            <a:ahLst/>
            <a:cxnLst/>
            <a:rect l="l" t="t" r="r" b="b"/>
            <a:pathLst>
              <a:path w="2450485" h="1131645">
                <a:moveTo>
                  <a:pt x="0" y="0"/>
                </a:moveTo>
                <a:lnTo>
                  <a:pt x="2450486" y="0"/>
                </a:lnTo>
                <a:lnTo>
                  <a:pt x="2450486" y="1131645"/>
                </a:lnTo>
                <a:lnTo>
                  <a:pt x="0" y="1131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59838" b="-6154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1841855" y="3502987"/>
            <a:ext cx="642540" cy="642540"/>
          </a:xfrm>
          <a:custGeom>
            <a:avLst/>
            <a:gdLst/>
            <a:ahLst/>
            <a:cxnLst/>
            <a:rect l="l" t="t" r="r" b="b"/>
            <a:pathLst>
              <a:path w="642540" h="642540">
                <a:moveTo>
                  <a:pt x="0" y="0"/>
                </a:moveTo>
                <a:lnTo>
                  <a:pt x="642540" y="0"/>
                </a:lnTo>
                <a:lnTo>
                  <a:pt x="642540" y="642540"/>
                </a:lnTo>
                <a:lnTo>
                  <a:pt x="0" y="6425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10207232" y="3455178"/>
            <a:ext cx="738157" cy="738157"/>
          </a:xfrm>
          <a:custGeom>
            <a:avLst/>
            <a:gdLst/>
            <a:ahLst/>
            <a:cxnLst/>
            <a:rect l="l" t="t" r="r" b="b"/>
            <a:pathLst>
              <a:path w="738157" h="738157">
                <a:moveTo>
                  <a:pt x="0" y="0"/>
                </a:moveTo>
                <a:lnTo>
                  <a:pt x="738156" y="0"/>
                </a:lnTo>
                <a:lnTo>
                  <a:pt x="738156" y="738157"/>
                </a:lnTo>
                <a:lnTo>
                  <a:pt x="0" y="738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12039600" y="3302300"/>
            <a:ext cx="5638800" cy="1679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500"/>
              </a:lnSpc>
              <a:spcBef>
                <a:spcPct val="0"/>
              </a:spcBef>
            </a:pPr>
            <a:r>
              <a:rPr lang="en-US" sz="3000" b="1" spc="156" dirty="0">
                <a:solidFill>
                  <a:srgbClr val="000000"/>
                </a:solidFill>
                <a:latin typeface="Andada Pro Bold"/>
              </a:rPr>
              <a:t>Challenges </a:t>
            </a:r>
            <a:r>
              <a:rPr lang="en-US" sz="3200" b="1" spc="156" dirty="0">
                <a:solidFill>
                  <a:srgbClr val="000000"/>
                </a:solidFill>
                <a:latin typeface="Andada Pro Bold"/>
              </a:rPr>
              <a:t>in</a:t>
            </a:r>
            <a:r>
              <a:rPr lang="en-US" sz="3000" b="1" spc="156" dirty="0">
                <a:solidFill>
                  <a:srgbClr val="000000"/>
                </a:solidFill>
                <a:latin typeface="Andada Pro Bold"/>
              </a:rPr>
              <a:t> Bangladesh: occlusion, blur, poor lighting, imbalance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701136" y="6289822"/>
            <a:ext cx="3995510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0"/>
              </a:lnSpc>
              <a:spcBef>
                <a:spcPct val="0"/>
              </a:spcBef>
            </a:pPr>
            <a:r>
              <a:rPr lang="en-US" sz="3000" b="1" spc="156" dirty="0">
                <a:solidFill>
                  <a:srgbClr val="000000"/>
                </a:solidFill>
                <a:latin typeface="Andada Pro Bold"/>
              </a:rPr>
              <a:t>Challenges with Current </a:t>
            </a:r>
            <a:r>
              <a:rPr lang="en-US" sz="3200" b="1" dirty="0">
                <a:latin typeface="Andada Pro Bold" panose="020B0604020202020204" charset="0"/>
              </a:rPr>
              <a:t>deep learning models</a:t>
            </a:r>
            <a:endParaRPr lang="en-US" sz="3000" b="1" spc="156" dirty="0">
              <a:solidFill>
                <a:srgbClr val="000000"/>
              </a:solidFill>
              <a:latin typeface="Andada Pro Bold" panose="020B0604020202020204" charset="0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2266115" y="6530086"/>
            <a:ext cx="3995510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0"/>
              </a:lnSpc>
              <a:spcBef>
                <a:spcPct val="0"/>
              </a:spcBef>
            </a:pPr>
            <a:r>
              <a:rPr lang="en-US" sz="3000" b="1" spc="156" dirty="0">
                <a:solidFill>
                  <a:srgbClr val="000000"/>
                </a:solidFill>
                <a:latin typeface="Andada Pro Bold"/>
              </a:rPr>
              <a:t>Project Goals and Impact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711275" y="1155533"/>
            <a:ext cx="886545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252">
                <a:solidFill>
                  <a:srgbClr val="000000"/>
                </a:solidFill>
                <a:latin typeface="Andada Pro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967145" y="6940360"/>
            <a:ext cx="2588070" cy="2047811"/>
          </a:xfrm>
          <a:custGeom>
            <a:avLst/>
            <a:gdLst/>
            <a:ahLst/>
            <a:cxnLst/>
            <a:rect l="l" t="t" r="r" b="b"/>
            <a:pathLst>
              <a:path w="2588070" h="2047811">
                <a:moveTo>
                  <a:pt x="0" y="0"/>
                </a:moveTo>
                <a:lnTo>
                  <a:pt x="2588071" y="0"/>
                </a:lnTo>
                <a:lnTo>
                  <a:pt x="2588071" y="2047810"/>
                </a:lnTo>
                <a:lnTo>
                  <a:pt x="0" y="2047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870974" y="2402168"/>
            <a:ext cx="1807269" cy="1807269"/>
            <a:chOff x="0" y="0"/>
            <a:chExt cx="2311400" cy="2311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11400" cy="2311400"/>
            </a:xfrm>
            <a:custGeom>
              <a:avLst/>
              <a:gdLst/>
              <a:ahLst/>
              <a:cxnLst/>
              <a:rect l="l" t="t" r="r" b="b"/>
              <a:pathLst>
                <a:path w="2311400" h="2311400">
                  <a:moveTo>
                    <a:pt x="200660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006600" y="2311400"/>
                  </a:lnTo>
                  <a:cubicBezTo>
                    <a:pt x="2175510" y="2311400"/>
                    <a:pt x="2311400" y="2175510"/>
                    <a:pt x="2311400" y="2006600"/>
                  </a:cubicBezTo>
                  <a:lnTo>
                    <a:pt x="2311400" y="304800"/>
                  </a:lnTo>
                  <a:cubicBezTo>
                    <a:pt x="2311400" y="135890"/>
                    <a:pt x="2175510" y="0"/>
                    <a:pt x="2006600" y="0"/>
                  </a:cubicBezTo>
                  <a:close/>
                </a:path>
              </a:pathLst>
            </a:custGeom>
            <a:solidFill>
              <a:srgbClr val="33A6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53739" y="1984933"/>
            <a:ext cx="834471" cy="83447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2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870974" y="4644253"/>
            <a:ext cx="1807269" cy="1807269"/>
            <a:chOff x="0" y="0"/>
            <a:chExt cx="2311400" cy="2311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11400" cy="2311400"/>
            </a:xfrm>
            <a:custGeom>
              <a:avLst/>
              <a:gdLst/>
              <a:ahLst/>
              <a:cxnLst/>
              <a:rect l="l" t="t" r="r" b="b"/>
              <a:pathLst>
                <a:path w="2311400" h="2311400">
                  <a:moveTo>
                    <a:pt x="200660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006600" y="2311400"/>
                  </a:lnTo>
                  <a:cubicBezTo>
                    <a:pt x="2175510" y="2311400"/>
                    <a:pt x="2311400" y="2175510"/>
                    <a:pt x="2311400" y="2006600"/>
                  </a:cubicBezTo>
                  <a:lnTo>
                    <a:pt x="2311400" y="304800"/>
                  </a:lnTo>
                  <a:cubicBezTo>
                    <a:pt x="2311400" y="135890"/>
                    <a:pt x="2175510" y="0"/>
                    <a:pt x="2006600" y="0"/>
                  </a:cubicBezTo>
                  <a:close/>
                </a:path>
              </a:pathLst>
            </a:custGeom>
            <a:solidFill>
              <a:srgbClr val="01044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53739" y="4276112"/>
            <a:ext cx="834471" cy="83447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2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70974" y="6886339"/>
            <a:ext cx="1807269" cy="1807269"/>
            <a:chOff x="0" y="0"/>
            <a:chExt cx="2311400" cy="2311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11400" cy="2311400"/>
            </a:xfrm>
            <a:custGeom>
              <a:avLst/>
              <a:gdLst/>
              <a:ahLst/>
              <a:cxnLst/>
              <a:rect l="l" t="t" r="r" b="b"/>
              <a:pathLst>
                <a:path w="2311400" h="2311400">
                  <a:moveTo>
                    <a:pt x="2006600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006600" y="2311400"/>
                  </a:lnTo>
                  <a:cubicBezTo>
                    <a:pt x="2175510" y="2311400"/>
                    <a:pt x="2311400" y="2175510"/>
                    <a:pt x="2311400" y="2006600"/>
                  </a:cubicBezTo>
                  <a:lnTo>
                    <a:pt x="2311400" y="304800"/>
                  </a:lnTo>
                  <a:cubicBezTo>
                    <a:pt x="2311400" y="135890"/>
                    <a:pt x="2175510" y="0"/>
                    <a:pt x="2006600" y="0"/>
                  </a:cubicBezTo>
                  <a:close/>
                </a:path>
              </a:pathLst>
            </a:custGeom>
            <a:solidFill>
              <a:srgbClr val="33A6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453739" y="6518197"/>
            <a:ext cx="834471" cy="83447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2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3288037" y="2888567"/>
            <a:ext cx="973144" cy="834471"/>
          </a:xfrm>
          <a:custGeom>
            <a:avLst/>
            <a:gdLst/>
            <a:ahLst/>
            <a:cxnLst/>
            <a:rect l="l" t="t" r="r" b="b"/>
            <a:pathLst>
              <a:path w="973144" h="834471">
                <a:moveTo>
                  <a:pt x="0" y="0"/>
                </a:moveTo>
                <a:lnTo>
                  <a:pt x="973144" y="0"/>
                </a:lnTo>
                <a:lnTo>
                  <a:pt x="973144" y="834471"/>
                </a:lnTo>
                <a:lnTo>
                  <a:pt x="0" y="834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3288037" y="5002709"/>
            <a:ext cx="973144" cy="1090357"/>
          </a:xfrm>
          <a:custGeom>
            <a:avLst/>
            <a:gdLst/>
            <a:ahLst/>
            <a:cxnLst/>
            <a:rect l="l" t="t" r="r" b="b"/>
            <a:pathLst>
              <a:path w="973144" h="1090357">
                <a:moveTo>
                  <a:pt x="0" y="0"/>
                </a:moveTo>
                <a:lnTo>
                  <a:pt x="973144" y="0"/>
                </a:lnTo>
                <a:lnTo>
                  <a:pt x="973144" y="1090357"/>
                </a:lnTo>
                <a:lnTo>
                  <a:pt x="0" y="10903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3288037" y="7321039"/>
            <a:ext cx="973144" cy="937867"/>
          </a:xfrm>
          <a:custGeom>
            <a:avLst/>
            <a:gdLst/>
            <a:ahLst/>
            <a:cxnLst/>
            <a:rect l="l" t="t" r="r" b="b"/>
            <a:pathLst>
              <a:path w="973144" h="937867">
                <a:moveTo>
                  <a:pt x="0" y="0"/>
                </a:moveTo>
                <a:lnTo>
                  <a:pt x="973144" y="0"/>
                </a:lnTo>
                <a:lnTo>
                  <a:pt x="973144" y="937868"/>
                </a:lnTo>
                <a:lnTo>
                  <a:pt x="0" y="9378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583709" y="2149438"/>
            <a:ext cx="57453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dada Pro Ultra-Bold"/>
              </a:rPr>
              <a:t>1.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83709" y="4440617"/>
            <a:ext cx="57453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dada Pro Ultra-Bold"/>
              </a:rPr>
              <a:t>2.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83709" y="6682703"/>
            <a:ext cx="57453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dada Pro Ultra-Bold"/>
              </a:rPr>
              <a:t>3.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13818" y="2373593"/>
            <a:ext cx="10865119" cy="2622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000000"/>
                </a:solidFill>
                <a:latin typeface="Andada Pro Bold"/>
              </a:rPr>
              <a:t>CNNs: capture local details but limited global understanding</a:t>
            </a:r>
          </a:p>
          <a:p>
            <a:pPr algn="ctr">
              <a:lnSpc>
                <a:spcPts val="7000"/>
              </a:lnSpc>
            </a:pPr>
            <a:endParaRPr lang="en-US" sz="5000" dirty="0">
              <a:solidFill>
                <a:srgbClr val="000000"/>
              </a:solidFill>
              <a:latin typeface="Andada Pro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814639" y="4644253"/>
            <a:ext cx="10516070" cy="1724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160" dirty="0" err="1">
                <a:solidFill>
                  <a:srgbClr val="000000"/>
                </a:solidFill>
                <a:latin typeface="Andada Pro Semi-Bold"/>
              </a:rPr>
              <a:t>MobileNet</a:t>
            </a:r>
            <a:r>
              <a:rPr lang="en-US" sz="5000" b="1" spc="160" dirty="0">
                <a:solidFill>
                  <a:srgbClr val="000000"/>
                </a:solidFill>
                <a:latin typeface="Andada Pro Semi-Bold"/>
              </a:rPr>
              <a:t>: efficient, pretrained, but may lose fine details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65508" y="6989960"/>
            <a:ext cx="10275242" cy="1706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4400" b="1" spc="160" dirty="0">
                <a:solidFill>
                  <a:srgbClr val="000000"/>
                </a:solidFill>
                <a:latin typeface="Andada Pro Semi-Bold"/>
              </a:rPr>
              <a:t>Hybrid = MobileNetV2 (global) + CNN (local) → accuracy + efficiency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19800" y="794644"/>
            <a:ext cx="6853156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sz="5000" dirty="0">
                <a:solidFill>
                  <a:srgbClr val="000000"/>
                </a:solidFill>
                <a:latin typeface="Andada Pro Bold"/>
              </a:rPr>
              <a:t>Motivation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61208" y="1988812"/>
            <a:ext cx="2318148" cy="1834234"/>
          </a:xfrm>
          <a:custGeom>
            <a:avLst/>
            <a:gdLst/>
            <a:ahLst/>
            <a:cxnLst/>
            <a:rect l="l" t="t" r="r" b="b"/>
            <a:pathLst>
              <a:path w="2318148" h="1834234">
                <a:moveTo>
                  <a:pt x="0" y="0"/>
                </a:moveTo>
                <a:lnTo>
                  <a:pt x="2318148" y="0"/>
                </a:lnTo>
                <a:lnTo>
                  <a:pt x="2318148" y="1834235"/>
                </a:lnTo>
                <a:lnTo>
                  <a:pt x="0" y="1834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632853" y="2562668"/>
            <a:ext cx="825654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6922580" y="4736078"/>
            <a:ext cx="2497827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102134" y="4078163"/>
            <a:ext cx="2318148" cy="1834234"/>
          </a:xfrm>
          <a:custGeom>
            <a:avLst/>
            <a:gdLst/>
            <a:ahLst/>
            <a:cxnLst/>
            <a:rect l="l" t="t" r="r" b="b"/>
            <a:pathLst>
              <a:path w="2318148" h="1834234">
                <a:moveTo>
                  <a:pt x="0" y="0"/>
                </a:moveTo>
                <a:lnTo>
                  <a:pt x="2318148" y="0"/>
                </a:lnTo>
                <a:lnTo>
                  <a:pt x="2318148" y="1834235"/>
                </a:lnTo>
                <a:lnTo>
                  <a:pt x="0" y="1834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632853" y="7276475"/>
            <a:ext cx="787554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9520" y="6586443"/>
            <a:ext cx="2318148" cy="1834234"/>
          </a:xfrm>
          <a:custGeom>
            <a:avLst/>
            <a:gdLst/>
            <a:ahLst/>
            <a:cxnLst/>
            <a:rect l="l" t="t" r="r" b="b"/>
            <a:pathLst>
              <a:path w="2318148" h="1834234">
                <a:moveTo>
                  <a:pt x="0" y="0"/>
                </a:moveTo>
                <a:lnTo>
                  <a:pt x="2318148" y="0"/>
                </a:lnTo>
                <a:lnTo>
                  <a:pt x="2318148" y="1834234"/>
                </a:lnTo>
                <a:lnTo>
                  <a:pt x="0" y="183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867718" y="5648725"/>
            <a:ext cx="2318148" cy="1834234"/>
          </a:xfrm>
          <a:custGeom>
            <a:avLst/>
            <a:gdLst/>
            <a:ahLst/>
            <a:cxnLst/>
            <a:rect l="l" t="t" r="r" b="b"/>
            <a:pathLst>
              <a:path w="2318148" h="1834234">
                <a:moveTo>
                  <a:pt x="0" y="0"/>
                </a:moveTo>
                <a:lnTo>
                  <a:pt x="2318148" y="0"/>
                </a:lnTo>
                <a:lnTo>
                  <a:pt x="2318148" y="1834234"/>
                </a:lnTo>
                <a:lnTo>
                  <a:pt x="0" y="183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9410882" y="3340325"/>
            <a:ext cx="2031218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867718" y="2766470"/>
            <a:ext cx="2318148" cy="1834234"/>
          </a:xfrm>
          <a:custGeom>
            <a:avLst/>
            <a:gdLst/>
            <a:ahLst/>
            <a:cxnLst/>
            <a:rect l="l" t="t" r="r" b="b"/>
            <a:pathLst>
              <a:path w="2318148" h="1834234">
                <a:moveTo>
                  <a:pt x="0" y="0"/>
                </a:moveTo>
                <a:lnTo>
                  <a:pt x="2318148" y="0"/>
                </a:lnTo>
                <a:lnTo>
                  <a:pt x="2318148" y="1834234"/>
                </a:lnTo>
                <a:lnTo>
                  <a:pt x="0" y="1834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9434694" y="2562668"/>
            <a:ext cx="0" cy="4737619"/>
          </a:xfrm>
          <a:prstGeom prst="line">
            <a:avLst/>
          </a:prstGeom>
          <a:ln w="28575" cap="flat">
            <a:solidFill>
              <a:srgbClr val="3C5679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9410882" y="6153795"/>
            <a:ext cx="1740915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7415095" y="1866323"/>
            <a:ext cx="1537008" cy="1392690"/>
            <a:chOff x="0" y="0"/>
            <a:chExt cx="2550919" cy="2311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50919" cy="2311400"/>
            </a:xfrm>
            <a:custGeom>
              <a:avLst/>
              <a:gdLst/>
              <a:ahLst/>
              <a:cxnLst/>
              <a:rect l="l" t="t" r="r" b="b"/>
              <a:pathLst>
                <a:path w="2550919" h="2311400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3A6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089918" y="2548380"/>
            <a:ext cx="1537008" cy="1392690"/>
            <a:chOff x="0" y="0"/>
            <a:chExt cx="2550919" cy="2311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50919" cy="2311400"/>
            </a:xfrm>
            <a:custGeom>
              <a:avLst/>
              <a:gdLst/>
              <a:ahLst/>
              <a:cxnLst/>
              <a:rect l="l" t="t" r="r" b="b"/>
              <a:pathLst>
                <a:path w="2550919" h="2311400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3A6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81016" y="4004197"/>
            <a:ext cx="1537008" cy="1392690"/>
            <a:chOff x="0" y="0"/>
            <a:chExt cx="2550919" cy="2311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50919" cy="2311400"/>
            </a:xfrm>
            <a:custGeom>
              <a:avLst/>
              <a:gdLst/>
              <a:ahLst/>
              <a:cxnLst/>
              <a:rect l="l" t="t" r="r" b="b"/>
              <a:pathLst>
                <a:path w="2550919" h="2311400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3A6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15095" y="6565842"/>
            <a:ext cx="1537008" cy="1392690"/>
            <a:chOff x="0" y="0"/>
            <a:chExt cx="2550919" cy="2311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50919" cy="2311400"/>
            </a:xfrm>
            <a:custGeom>
              <a:avLst/>
              <a:gdLst/>
              <a:ahLst/>
              <a:cxnLst/>
              <a:rect l="l" t="t" r="r" b="b"/>
              <a:pathLst>
                <a:path w="2550919" h="2311400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3A6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089918" y="5443162"/>
            <a:ext cx="1537008" cy="1392690"/>
            <a:chOff x="0" y="0"/>
            <a:chExt cx="2550919" cy="2311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550919" cy="2311400"/>
            </a:xfrm>
            <a:custGeom>
              <a:avLst/>
              <a:gdLst/>
              <a:ahLst/>
              <a:cxnLst/>
              <a:rect l="l" t="t" r="r" b="b"/>
              <a:pathLst>
                <a:path w="2550919" h="2311400">
                  <a:moveTo>
                    <a:pt x="2246119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2246119" y="2311400"/>
                  </a:lnTo>
                  <a:cubicBezTo>
                    <a:pt x="2415029" y="2311400"/>
                    <a:pt x="2550919" y="2175510"/>
                    <a:pt x="2550919" y="2006600"/>
                  </a:cubicBezTo>
                  <a:lnTo>
                    <a:pt x="2550919" y="304800"/>
                  </a:lnTo>
                  <a:cubicBezTo>
                    <a:pt x="2550919" y="135890"/>
                    <a:pt x="2415029" y="0"/>
                    <a:pt x="2246119" y="0"/>
                  </a:cubicBezTo>
                  <a:close/>
                </a:path>
              </a:pathLst>
            </a:custGeom>
            <a:solidFill>
              <a:srgbClr val="33A6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7800552" y="2150235"/>
            <a:ext cx="766093" cy="824865"/>
          </a:xfrm>
          <a:custGeom>
            <a:avLst/>
            <a:gdLst/>
            <a:ahLst/>
            <a:cxnLst/>
            <a:rect l="l" t="t" r="r" b="b"/>
            <a:pathLst>
              <a:path w="766093" h="824865">
                <a:moveTo>
                  <a:pt x="0" y="0"/>
                </a:moveTo>
                <a:lnTo>
                  <a:pt x="766093" y="0"/>
                </a:lnTo>
                <a:lnTo>
                  <a:pt x="766093" y="824866"/>
                </a:lnTo>
                <a:lnTo>
                  <a:pt x="0" y="82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705656" y="4256678"/>
            <a:ext cx="887728" cy="887728"/>
          </a:xfrm>
          <a:custGeom>
            <a:avLst/>
            <a:gdLst/>
            <a:ahLst/>
            <a:cxnLst/>
            <a:rect l="l" t="t" r="r" b="b"/>
            <a:pathLst>
              <a:path w="887728" h="887728">
                <a:moveTo>
                  <a:pt x="0" y="0"/>
                </a:moveTo>
                <a:lnTo>
                  <a:pt x="887728" y="0"/>
                </a:lnTo>
                <a:lnTo>
                  <a:pt x="887728" y="887728"/>
                </a:lnTo>
                <a:lnTo>
                  <a:pt x="0" y="887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7800552" y="6879140"/>
            <a:ext cx="766093" cy="766093"/>
          </a:xfrm>
          <a:custGeom>
            <a:avLst/>
            <a:gdLst/>
            <a:ahLst/>
            <a:cxnLst/>
            <a:rect l="l" t="t" r="r" b="b"/>
            <a:pathLst>
              <a:path w="766093" h="766093">
                <a:moveTo>
                  <a:pt x="0" y="0"/>
                </a:moveTo>
                <a:lnTo>
                  <a:pt x="766093" y="0"/>
                </a:lnTo>
                <a:lnTo>
                  <a:pt x="766093" y="766094"/>
                </a:lnTo>
                <a:lnTo>
                  <a:pt x="0" y="7660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0421377" y="2838820"/>
            <a:ext cx="874091" cy="811812"/>
          </a:xfrm>
          <a:custGeom>
            <a:avLst/>
            <a:gdLst/>
            <a:ahLst/>
            <a:cxnLst/>
            <a:rect l="l" t="t" r="r" b="b"/>
            <a:pathLst>
              <a:path w="874091" h="811812">
                <a:moveTo>
                  <a:pt x="0" y="0"/>
                </a:moveTo>
                <a:lnTo>
                  <a:pt x="874091" y="0"/>
                </a:lnTo>
                <a:lnTo>
                  <a:pt x="874091" y="811812"/>
                </a:lnTo>
                <a:lnTo>
                  <a:pt x="0" y="811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0448513" y="5698152"/>
            <a:ext cx="819817" cy="882711"/>
          </a:xfrm>
          <a:custGeom>
            <a:avLst/>
            <a:gdLst/>
            <a:ahLst/>
            <a:cxnLst/>
            <a:rect l="l" t="t" r="r" b="b"/>
            <a:pathLst>
              <a:path w="819817" h="882711">
                <a:moveTo>
                  <a:pt x="0" y="0"/>
                </a:moveTo>
                <a:lnTo>
                  <a:pt x="819818" y="0"/>
                </a:lnTo>
                <a:lnTo>
                  <a:pt x="819818" y="882710"/>
                </a:lnTo>
                <a:lnTo>
                  <a:pt x="0" y="8827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651908" y="1998306"/>
            <a:ext cx="5546675" cy="1573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nn-NO" sz="3000" spc="96" dirty="0">
                <a:solidFill>
                  <a:srgbClr val="000000"/>
                </a:solidFill>
                <a:latin typeface="Andada Pro Semi-Bold"/>
              </a:rPr>
              <a:t>Design a hybrid MobileNet–CNN model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spc="96" dirty="0">
              <a:solidFill>
                <a:srgbClr val="000000"/>
              </a:solidFill>
              <a:latin typeface="Andada Pro Semi-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79163" y="4207440"/>
            <a:ext cx="5408689" cy="2111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000000"/>
                </a:solidFill>
                <a:latin typeface="Andada Pro Semi-Bold"/>
              </a:rPr>
              <a:t>Evaluate with accuracy, precision, recall, F1, ROC-AUC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spc="96" dirty="0">
              <a:solidFill>
                <a:srgbClr val="000000"/>
              </a:solidFill>
              <a:latin typeface="Andada Pro Semi-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895307" y="6759090"/>
            <a:ext cx="5408688" cy="1034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000000"/>
                </a:solidFill>
                <a:latin typeface="Andada Pro Semi-Bold"/>
              </a:rPr>
              <a:t>Use the Bangladeshi Traffic Sign dataset as benchmark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52662" y="2515691"/>
            <a:ext cx="5356175" cy="2111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000000"/>
                </a:solidFill>
                <a:latin typeface="Andada Pro Semi-Bold"/>
              </a:rPr>
              <a:t>Train and evaluate on Bangladeshi Traffic Sign dataset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000000"/>
                </a:solidFill>
                <a:latin typeface="Andada Pro Semi-Bold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166209" y="5370971"/>
            <a:ext cx="4873589" cy="2111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000000"/>
                </a:solidFill>
                <a:latin typeface="Andada Pro Semi-Bold"/>
              </a:rPr>
              <a:t>Compare with baseline CNN-only and </a:t>
            </a:r>
            <a:r>
              <a:rPr lang="en-US" sz="3000" spc="96" dirty="0" err="1">
                <a:solidFill>
                  <a:srgbClr val="000000"/>
                </a:solidFill>
                <a:latin typeface="Andada Pro Semi-Bold"/>
              </a:rPr>
              <a:t>MobileNet</a:t>
            </a:r>
            <a:r>
              <a:rPr lang="en-US" sz="3000" spc="96" dirty="0">
                <a:solidFill>
                  <a:srgbClr val="000000"/>
                </a:solidFill>
                <a:latin typeface="Andada Pro Semi-Bold"/>
              </a:rPr>
              <a:t>-only models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spc="96" dirty="0">
              <a:solidFill>
                <a:srgbClr val="000000"/>
              </a:solidFill>
              <a:latin typeface="Andada Pro Semi-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995761" y="591463"/>
            <a:ext cx="6853156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sz="5000" dirty="0">
                <a:solidFill>
                  <a:srgbClr val="000000"/>
                </a:solidFill>
                <a:latin typeface="Andada Pro Bold"/>
              </a:rPr>
              <a:t>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62824" y="2387253"/>
            <a:ext cx="2951513" cy="3061587"/>
            <a:chOff x="0" y="0"/>
            <a:chExt cx="867410" cy="899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7410" cy="899759"/>
            </a:xfrm>
            <a:custGeom>
              <a:avLst/>
              <a:gdLst/>
              <a:ahLst/>
              <a:cxnLst/>
              <a:rect l="l" t="t" r="r" b="b"/>
              <a:pathLst>
                <a:path w="867410" h="899759">
                  <a:moveTo>
                    <a:pt x="52461" y="0"/>
                  </a:moveTo>
                  <a:lnTo>
                    <a:pt x="814949" y="0"/>
                  </a:lnTo>
                  <a:cubicBezTo>
                    <a:pt x="843923" y="0"/>
                    <a:pt x="867410" y="23487"/>
                    <a:pt x="867410" y="52461"/>
                  </a:cubicBezTo>
                  <a:lnTo>
                    <a:pt x="867410" y="847298"/>
                  </a:lnTo>
                  <a:cubicBezTo>
                    <a:pt x="867410" y="861212"/>
                    <a:pt x="861883" y="874555"/>
                    <a:pt x="852045" y="884394"/>
                  </a:cubicBezTo>
                  <a:cubicBezTo>
                    <a:pt x="842206" y="894232"/>
                    <a:pt x="828863" y="899759"/>
                    <a:pt x="814949" y="899759"/>
                  </a:cubicBezTo>
                  <a:lnTo>
                    <a:pt x="52461" y="899759"/>
                  </a:lnTo>
                  <a:cubicBezTo>
                    <a:pt x="23487" y="899759"/>
                    <a:pt x="0" y="876272"/>
                    <a:pt x="0" y="847298"/>
                  </a:cubicBezTo>
                  <a:lnTo>
                    <a:pt x="0" y="52461"/>
                  </a:lnTo>
                  <a:cubicBezTo>
                    <a:pt x="0" y="23487"/>
                    <a:pt x="23487" y="0"/>
                    <a:pt x="52461" y="0"/>
                  </a:cubicBezTo>
                  <a:close/>
                </a:path>
              </a:pathLst>
            </a:custGeom>
            <a:solidFill>
              <a:srgbClr val="FFFEFD"/>
            </a:solidFill>
            <a:ln w="142875" cap="sq">
              <a:solidFill>
                <a:srgbClr val="FAB3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67410" cy="947384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9986496" y="6525774"/>
            <a:ext cx="2951513" cy="3061587"/>
            <a:chOff x="0" y="0"/>
            <a:chExt cx="867410" cy="8997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67410" cy="899759"/>
            </a:xfrm>
            <a:custGeom>
              <a:avLst/>
              <a:gdLst/>
              <a:ahLst/>
              <a:cxnLst/>
              <a:rect l="l" t="t" r="r" b="b"/>
              <a:pathLst>
                <a:path w="867410" h="899759">
                  <a:moveTo>
                    <a:pt x="52461" y="0"/>
                  </a:moveTo>
                  <a:lnTo>
                    <a:pt x="814949" y="0"/>
                  </a:lnTo>
                  <a:cubicBezTo>
                    <a:pt x="843923" y="0"/>
                    <a:pt x="867410" y="23487"/>
                    <a:pt x="867410" y="52461"/>
                  </a:cubicBezTo>
                  <a:lnTo>
                    <a:pt x="867410" y="847298"/>
                  </a:lnTo>
                  <a:cubicBezTo>
                    <a:pt x="867410" y="861212"/>
                    <a:pt x="861883" y="874555"/>
                    <a:pt x="852045" y="884394"/>
                  </a:cubicBezTo>
                  <a:cubicBezTo>
                    <a:pt x="842206" y="894232"/>
                    <a:pt x="828863" y="899759"/>
                    <a:pt x="814949" y="899759"/>
                  </a:cubicBezTo>
                  <a:lnTo>
                    <a:pt x="52461" y="899759"/>
                  </a:lnTo>
                  <a:cubicBezTo>
                    <a:pt x="23487" y="899759"/>
                    <a:pt x="0" y="876272"/>
                    <a:pt x="0" y="847298"/>
                  </a:cubicBezTo>
                  <a:lnTo>
                    <a:pt x="0" y="52461"/>
                  </a:lnTo>
                  <a:cubicBezTo>
                    <a:pt x="0" y="23487"/>
                    <a:pt x="23487" y="0"/>
                    <a:pt x="52461" y="0"/>
                  </a:cubicBezTo>
                  <a:close/>
                </a:path>
              </a:pathLst>
            </a:custGeom>
            <a:solidFill>
              <a:srgbClr val="FFFEFD"/>
            </a:solidFill>
            <a:ln w="142875" cap="sq">
              <a:solidFill>
                <a:srgbClr val="FAB3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67410" cy="937859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296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1705248" y="3362574"/>
            <a:ext cx="2841685" cy="772357"/>
            <a:chOff x="0" y="0"/>
            <a:chExt cx="1219237" cy="3313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9237" cy="331383"/>
            </a:xfrm>
            <a:custGeom>
              <a:avLst/>
              <a:gdLst/>
              <a:ahLst/>
              <a:cxnLst/>
              <a:rect l="l" t="t" r="r" b="b"/>
              <a:pathLst>
                <a:path w="1219237" h="331383">
                  <a:moveTo>
                    <a:pt x="609618" y="0"/>
                  </a:moveTo>
                  <a:lnTo>
                    <a:pt x="1219237" y="331383"/>
                  </a:lnTo>
                  <a:lnTo>
                    <a:pt x="0" y="331383"/>
                  </a:lnTo>
                  <a:lnTo>
                    <a:pt x="609618" y="0"/>
                  </a:lnTo>
                  <a:close/>
                </a:path>
              </a:pathLst>
            </a:custGeom>
            <a:solidFill>
              <a:srgbClr val="FFFE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0506" y="106231"/>
              <a:ext cx="838225" cy="201481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15560726" y="7727276"/>
            <a:ext cx="2841685" cy="772357"/>
            <a:chOff x="0" y="0"/>
            <a:chExt cx="1219237" cy="3313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9237" cy="331383"/>
            </a:xfrm>
            <a:custGeom>
              <a:avLst/>
              <a:gdLst/>
              <a:ahLst/>
              <a:cxnLst/>
              <a:rect l="l" t="t" r="r" b="b"/>
              <a:pathLst>
                <a:path w="1219237" h="331383">
                  <a:moveTo>
                    <a:pt x="609618" y="0"/>
                  </a:moveTo>
                  <a:lnTo>
                    <a:pt x="1219237" y="331383"/>
                  </a:lnTo>
                  <a:lnTo>
                    <a:pt x="0" y="331383"/>
                  </a:lnTo>
                  <a:lnTo>
                    <a:pt x="609618" y="0"/>
                  </a:lnTo>
                  <a:close/>
                </a:path>
              </a:pathLst>
            </a:custGeom>
            <a:solidFill>
              <a:srgbClr val="FFFE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506" y="115756"/>
              <a:ext cx="838225" cy="191956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296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1016217" y="1365121"/>
            <a:ext cx="5670691" cy="2159814"/>
            <a:chOff x="190506" y="106231"/>
            <a:chExt cx="2433034" cy="926677"/>
          </a:xfrm>
        </p:grpSpPr>
        <p:sp>
          <p:nvSpPr>
            <p:cNvPr id="15" name="Freeform 15"/>
            <p:cNvSpPr/>
            <p:nvPr/>
          </p:nvSpPr>
          <p:spPr>
            <a:xfrm>
              <a:off x="1404303" y="701525"/>
              <a:ext cx="1219237" cy="331383"/>
            </a:xfrm>
            <a:custGeom>
              <a:avLst/>
              <a:gdLst/>
              <a:ahLst/>
              <a:cxnLst/>
              <a:rect l="l" t="t" r="r" b="b"/>
              <a:pathLst>
                <a:path w="1219237" h="331383">
                  <a:moveTo>
                    <a:pt x="609618" y="0"/>
                  </a:moveTo>
                  <a:lnTo>
                    <a:pt x="1219237" y="331383"/>
                  </a:lnTo>
                  <a:lnTo>
                    <a:pt x="0" y="331383"/>
                  </a:lnTo>
                  <a:lnTo>
                    <a:pt x="609618" y="0"/>
                  </a:lnTo>
                  <a:close/>
                </a:path>
              </a:pathLst>
            </a:custGeom>
            <a:solidFill>
              <a:srgbClr val="FFFEFD"/>
            </a:solidFill>
            <a:ln w="57150" cap="sq">
              <a:solidFill>
                <a:srgbClr val="FAB3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0506" y="106231"/>
              <a:ext cx="838225" cy="201481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12420016" y="7456178"/>
            <a:ext cx="2841685" cy="1024321"/>
            <a:chOff x="-59415" y="9926"/>
            <a:chExt cx="1219237" cy="331383"/>
          </a:xfrm>
        </p:grpSpPr>
        <p:sp>
          <p:nvSpPr>
            <p:cNvPr id="18" name="Freeform 18"/>
            <p:cNvSpPr/>
            <p:nvPr/>
          </p:nvSpPr>
          <p:spPr>
            <a:xfrm>
              <a:off x="-59415" y="9926"/>
              <a:ext cx="1219237" cy="331383"/>
            </a:xfrm>
            <a:custGeom>
              <a:avLst/>
              <a:gdLst/>
              <a:ahLst/>
              <a:cxnLst/>
              <a:rect l="l" t="t" r="r" b="b"/>
              <a:pathLst>
                <a:path w="1219237" h="331383">
                  <a:moveTo>
                    <a:pt x="609618" y="0"/>
                  </a:moveTo>
                  <a:lnTo>
                    <a:pt x="1219237" y="331383"/>
                  </a:lnTo>
                  <a:lnTo>
                    <a:pt x="0" y="331383"/>
                  </a:lnTo>
                  <a:lnTo>
                    <a:pt x="609618" y="0"/>
                  </a:lnTo>
                  <a:close/>
                </a:path>
              </a:pathLst>
            </a:custGeom>
            <a:solidFill>
              <a:srgbClr val="FFFEFD"/>
            </a:solidFill>
            <a:ln w="57150" cap="sq">
              <a:solidFill>
                <a:srgbClr val="FAB333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06" y="115756"/>
              <a:ext cx="838225" cy="191956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296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04457" y="2327909"/>
            <a:ext cx="235456" cy="2841685"/>
            <a:chOff x="0" y="0"/>
            <a:chExt cx="69197" cy="8351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197" cy="835133"/>
            </a:xfrm>
            <a:custGeom>
              <a:avLst/>
              <a:gdLst/>
              <a:ahLst/>
              <a:cxnLst/>
              <a:rect l="l" t="t" r="r" b="b"/>
              <a:pathLst>
                <a:path w="69197" h="835133">
                  <a:moveTo>
                    <a:pt x="0" y="0"/>
                  </a:moveTo>
                  <a:lnTo>
                    <a:pt x="69197" y="0"/>
                  </a:lnTo>
                  <a:lnTo>
                    <a:pt x="69197" y="835133"/>
                  </a:lnTo>
                  <a:lnTo>
                    <a:pt x="0" y="835133"/>
                  </a:lnTo>
                  <a:close/>
                </a:path>
              </a:pathLst>
            </a:custGeom>
            <a:solidFill>
              <a:srgbClr val="FFFE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69197" cy="882758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10800000">
            <a:off x="17367747" y="6692612"/>
            <a:ext cx="235456" cy="2841685"/>
            <a:chOff x="0" y="0"/>
            <a:chExt cx="69197" cy="8351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197" cy="835133"/>
            </a:xfrm>
            <a:custGeom>
              <a:avLst/>
              <a:gdLst/>
              <a:ahLst/>
              <a:cxnLst/>
              <a:rect l="l" t="t" r="r" b="b"/>
              <a:pathLst>
                <a:path w="69197" h="835133">
                  <a:moveTo>
                    <a:pt x="0" y="0"/>
                  </a:moveTo>
                  <a:lnTo>
                    <a:pt x="69197" y="0"/>
                  </a:lnTo>
                  <a:lnTo>
                    <a:pt x="69197" y="835133"/>
                  </a:lnTo>
                  <a:lnTo>
                    <a:pt x="0" y="835133"/>
                  </a:lnTo>
                  <a:close/>
                </a:path>
              </a:pathLst>
            </a:custGeom>
            <a:solidFill>
              <a:srgbClr val="FFFE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9197" cy="873233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296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05417" y="2334056"/>
            <a:ext cx="3020399" cy="3061587"/>
            <a:chOff x="0" y="0"/>
            <a:chExt cx="867410" cy="8997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67410" cy="899759"/>
            </a:xfrm>
            <a:custGeom>
              <a:avLst/>
              <a:gdLst/>
              <a:ahLst/>
              <a:cxnLst/>
              <a:rect l="l" t="t" r="r" b="b"/>
              <a:pathLst>
                <a:path w="867410" h="899759">
                  <a:moveTo>
                    <a:pt x="52461" y="0"/>
                  </a:moveTo>
                  <a:lnTo>
                    <a:pt x="814949" y="0"/>
                  </a:lnTo>
                  <a:cubicBezTo>
                    <a:pt x="843923" y="0"/>
                    <a:pt x="867410" y="23487"/>
                    <a:pt x="867410" y="52461"/>
                  </a:cubicBezTo>
                  <a:lnTo>
                    <a:pt x="867410" y="847298"/>
                  </a:lnTo>
                  <a:cubicBezTo>
                    <a:pt x="867410" y="861212"/>
                    <a:pt x="861883" y="874555"/>
                    <a:pt x="852045" y="884394"/>
                  </a:cubicBezTo>
                  <a:cubicBezTo>
                    <a:pt x="842206" y="894232"/>
                    <a:pt x="828863" y="899759"/>
                    <a:pt x="814949" y="899759"/>
                  </a:cubicBezTo>
                  <a:lnTo>
                    <a:pt x="52461" y="899759"/>
                  </a:lnTo>
                  <a:cubicBezTo>
                    <a:pt x="23487" y="899759"/>
                    <a:pt x="0" y="876272"/>
                    <a:pt x="0" y="847298"/>
                  </a:cubicBezTo>
                  <a:lnTo>
                    <a:pt x="0" y="52461"/>
                  </a:lnTo>
                  <a:cubicBezTo>
                    <a:pt x="0" y="23487"/>
                    <a:pt x="23487" y="0"/>
                    <a:pt x="52461" y="0"/>
                  </a:cubicBezTo>
                  <a:close/>
                </a:path>
              </a:pathLst>
            </a:custGeom>
            <a:solidFill>
              <a:srgbClr val="FFFEFD"/>
            </a:solidFill>
            <a:ln w="142875" cap="sq">
              <a:solidFill>
                <a:srgbClr val="F73F5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67410" cy="947384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rot="5400000">
            <a:off x="5027112" y="3362574"/>
            <a:ext cx="2841685" cy="772357"/>
            <a:chOff x="0" y="0"/>
            <a:chExt cx="1219237" cy="33138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19237" cy="331383"/>
            </a:xfrm>
            <a:custGeom>
              <a:avLst/>
              <a:gdLst/>
              <a:ahLst/>
              <a:cxnLst/>
              <a:rect l="l" t="t" r="r" b="b"/>
              <a:pathLst>
                <a:path w="1219237" h="331383">
                  <a:moveTo>
                    <a:pt x="609618" y="0"/>
                  </a:moveTo>
                  <a:lnTo>
                    <a:pt x="1219237" y="331383"/>
                  </a:lnTo>
                  <a:lnTo>
                    <a:pt x="0" y="331383"/>
                  </a:lnTo>
                  <a:lnTo>
                    <a:pt x="609618" y="0"/>
                  </a:lnTo>
                  <a:close/>
                </a:path>
              </a:pathLst>
            </a:custGeom>
            <a:solidFill>
              <a:srgbClr val="FFFE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0506" y="106231"/>
              <a:ext cx="838225" cy="201481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 rot="16200000">
            <a:off x="12790188" y="7889758"/>
            <a:ext cx="1953657" cy="447393"/>
          </a:xfrm>
          <a:prstGeom prst="rect">
            <a:avLst/>
          </a:prstGeom>
        </p:spPr>
        <p:txBody>
          <a:bodyPr lIns="45526" tIns="45526" rIns="45526" bIns="45526" rtlCol="0" anchor="ctr"/>
          <a:lstStyle/>
          <a:p>
            <a:pPr algn="ctr">
              <a:lnSpc>
                <a:spcPts val="2969"/>
              </a:lnSpc>
            </a:pPr>
            <a:endParaRPr/>
          </a:p>
        </p:txBody>
      </p:sp>
      <p:grpSp>
        <p:nvGrpSpPr>
          <p:cNvPr id="38" name="Group 38"/>
          <p:cNvGrpSpPr/>
          <p:nvPr/>
        </p:nvGrpSpPr>
        <p:grpSpPr>
          <a:xfrm rot="5400000">
            <a:off x="5014623" y="3338785"/>
            <a:ext cx="2841685" cy="772357"/>
            <a:chOff x="0" y="0"/>
            <a:chExt cx="1219237" cy="33138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19237" cy="331383"/>
            </a:xfrm>
            <a:custGeom>
              <a:avLst/>
              <a:gdLst/>
              <a:ahLst/>
              <a:cxnLst/>
              <a:rect l="l" t="t" r="r" b="b"/>
              <a:pathLst>
                <a:path w="1219237" h="331383">
                  <a:moveTo>
                    <a:pt x="609618" y="0"/>
                  </a:moveTo>
                  <a:lnTo>
                    <a:pt x="1219237" y="331383"/>
                  </a:lnTo>
                  <a:lnTo>
                    <a:pt x="0" y="331383"/>
                  </a:lnTo>
                  <a:lnTo>
                    <a:pt x="609618" y="0"/>
                  </a:lnTo>
                  <a:close/>
                </a:path>
              </a:pathLst>
            </a:custGeom>
            <a:solidFill>
              <a:srgbClr val="FFFEFD"/>
            </a:solidFill>
            <a:ln w="57150" cap="sq">
              <a:solidFill>
                <a:srgbClr val="F73F5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90506" y="106231"/>
              <a:ext cx="838225" cy="201481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 rot="16200000">
            <a:off x="12880474" y="7889758"/>
            <a:ext cx="1953657" cy="447393"/>
          </a:xfrm>
          <a:prstGeom prst="rect">
            <a:avLst/>
          </a:prstGeom>
        </p:spPr>
        <p:txBody>
          <a:bodyPr lIns="45526" tIns="45526" rIns="45526" bIns="45526" rtlCol="0" anchor="ctr"/>
          <a:lstStyle/>
          <a:p>
            <a:pPr algn="ctr">
              <a:lnSpc>
                <a:spcPts val="2969"/>
              </a:lnSpc>
            </a:pPr>
            <a:endParaRPr/>
          </a:p>
        </p:txBody>
      </p:sp>
      <p:grpSp>
        <p:nvGrpSpPr>
          <p:cNvPr id="44" name="Group 44"/>
          <p:cNvGrpSpPr/>
          <p:nvPr/>
        </p:nvGrpSpPr>
        <p:grpSpPr>
          <a:xfrm>
            <a:off x="5826321" y="2327909"/>
            <a:ext cx="235456" cy="2841685"/>
            <a:chOff x="0" y="0"/>
            <a:chExt cx="69197" cy="83513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9197" cy="835133"/>
            </a:xfrm>
            <a:custGeom>
              <a:avLst/>
              <a:gdLst/>
              <a:ahLst/>
              <a:cxnLst/>
              <a:rect l="l" t="t" r="r" b="b"/>
              <a:pathLst>
                <a:path w="69197" h="835133">
                  <a:moveTo>
                    <a:pt x="0" y="0"/>
                  </a:moveTo>
                  <a:lnTo>
                    <a:pt x="69197" y="0"/>
                  </a:lnTo>
                  <a:lnTo>
                    <a:pt x="69197" y="835133"/>
                  </a:lnTo>
                  <a:lnTo>
                    <a:pt x="0" y="835133"/>
                  </a:lnTo>
                  <a:close/>
                </a:path>
              </a:pathLst>
            </a:custGeom>
            <a:solidFill>
              <a:srgbClr val="FFFE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69197" cy="882758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766648" y="2391839"/>
            <a:ext cx="2951513" cy="3061587"/>
            <a:chOff x="0" y="0"/>
            <a:chExt cx="867410" cy="89975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67410" cy="899759"/>
            </a:xfrm>
            <a:custGeom>
              <a:avLst/>
              <a:gdLst/>
              <a:ahLst/>
              <a:cxnLst/>
              <a:rect l="l" t="t" r="r" b="b"/>
              <a:pathLst>
                <a:path w="867410" h="899759">
                  <a:moveTo>
                    <a:pt x="52461" y="0"/>
                  </a:moveTo>
                  <a:lnTo>
                    <a:pt x="814949" y="0"/>
                  </a:lnTo>
                  <a:cubicBezTo>
                    <a:pt x="843923" y="0"/>
                    <a:pt x="867410" y="23487"/>
                    <a:pt x="867410" y="52461"/>
                  </a:cubicBezTo>
                  <a:lnTo>
                    <a:pt x="867410" y="847298"/>
                  </a:lnTo>
                  <a:cubicBezTo>
                    <a:pt x="867410" y="861212"/>
                    <a:pt x="861883" y="874555"/>
                    <a:pt x="852045" y="884394"/>
                  </a:cubicBezTo>
                  <a:cubicBezTo>
                    <a:pt x="842206" y="894232"/>
                    <a:pt x="828863" y="899759"/>
                    <a:pt x="814949" y="899759"/>
                  </a:cubicBezTo>
                  <a:lnTo>
                    <a:pt x="52461" y="899759"/>
                  </a:lnTo>
                  <a:cubicBezTo>
                    <a:pt x="23487" y="899759"/>
                    <a:pt x="0" y="876272"/>
                    <a:pt x="0" y="847298"/>
                  </a:cubicBezTo>
                  <a:lnTo>
                    <a:pt x="0" y="52461"/>
                  </a:lnTo>
                  <a:cubicBezTo>
                    <a:pt x="0" y="23487"/>
                    <a:pt x="23487" y="0"/>
                    <a:pt x="52461" y="0"/>
                  </a:cubicBezTo>
                  <a:close/>
                </a:path>
              </a:pathLst>
            </a:custGeom>
            <a:solidFill>
              <a:srgbClr val="FFFEFD"/>
            </a:solidFill>
            <a:ln w="142875" cap="sq">
              <a:solidFill>
                <a:srgbClr val="04839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867410" cy="947384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 rot="10800000">
            <a:off x="7627235" y="6582661"/>
            <a:ext cx="2951513" cy="3191229"/>
          </a:xfrm>
          <a:prstGeom prst="rect">
            <a:avLst/>
          </a:prstGeom>
        </p:spPr>
        <p:txBody>
          <a:bodyPr lIns="45526" tIns="45526" rIns="45526" bIns="45526" rtlCol="0" anchor="ctr"/>
          <a:lstStyle/>
          <a:p>
            <a:pPr algn="ctr">
              <a:lnSpc>
                <a:spcPts val="2969"/>
              </a:lnSpc>
            </a:pPr>
            <a:endParaRPr/>
          </a:p>
        </p:txBody>
      </p:sp>
      <p:grpSp>
        <p:nvGrpSpPr>
          <p:cNvPr id="56" name="Group 56"/>
          <p:cNvGrpSpPr/>
          <p:nvPr/>
        </p:nvGrpSpPr>
        <p:grpSpPr>
          <a:xfrm rot="5400000">
            <a:off x="8348976" y="3362574"/>
            <a:ext cx="2841685" cy="772357"/>
            <a:chOff x="0" y="0"/>
            <a:chExt cx="1219237" cy="33138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19237" cy="331383"/>
            </a:xfrm>
            <a:custGeom>
              <a:avLst/>
              <a:gdLst/>
              <a:ahLst/>
              <a:cxnLst/>
              <a:rect l="l" t="t" r="r" b="b"/>
              <a:pathLst>
                <a:path w="1219237" h="331383">
                  <a:moveTo>
                    <a:pt x="609618" y="0"/>
                  </a:moveTo>
                  <a:lnTo>
                    <a:pt x="1219237" y="331383"/>
                  </a:lnTo>
                  <a:lnTo>
                    <a:pt x="0" y="331383"/>
                  </a:lnTo>
                  <a:lnTo>
                    <a:pt x="609618" y="0"/>
                  </a:lnTo>
                  <a:close/>
                </a:path>
              </a:pathLst>
            </a:custGeom>
            <a:solidFill>
              <a:srgbClr val="FFFE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90506" y="106231"/>
              <a:ext cx="838225" cy="201481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 rot="5400000">
            <a:off x="9625992" y="3356577"/>
            <a:ext cx="2841685" cy="943850"/>
            <a:chOff x="0" y="-73580"/>
            <a:chExt cx="1219237" cy="40496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219237" cy="331383"/>
            </a:xfrm>
            <a:custGeom>
              <a:avLst/>
              <a:gdLst/>
              <a:ahLst/>
              <a:cxnLst/>
              <a:rect l="l" t="t" r="r" b="b"/>
              <a:pathLst>
                <a:path w="1219237" h="331383">
                  <a:moveTo>
                    <a:pt x="609618" y="0"/>
                  </a:moveTo>
                  <a:lnTo>
                    <a:pt x="1219237" y="331383"/>
                  </a:lnTo>
                  <a:lnTo>
                    <a:pt x="0" y="331383"/>
                  </a:lnTo>
                  <a:lnTo>
                    <a:pt x="609618" y="0"/>
                  </a:lnTo>
                  <a:close/>
                </a:path>
              </a:pathLst>
            </a:custGeom>
            <a:solidFill>
              <a:srgbClr val="FFFEFD"/>
            </a:solidFill>
            <a:ln w="57150" cap="sq">
              <a:solidFill>
                <a:srgbClr val="048396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57314" y="-73580"/>
              <a:ext cx="838225" cy="201481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 rot="-10800000">
            <a:off x="10724019" y="6692612"/>
            <a:ext cx="235456" cy="2841685"/>
            <a:chOff x="0" y="0"/>
            <a:chExt cx="69197" cy="83513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9197" cy="835133"/>
            </a:xfrm>
            <a:custGeom>
              <a:avLst/>
              <a:gdLst/>
              <a:ahLst/>
              <a:cxnLst/>
              <a:rect l="l" t="t" r="r" b="b"/>
              <a:pathLst>
                <a:path w="69197" h="835133">
                  <a:moveTo>
                    <a:pt x="0" y="0"/>
                  </a:moveTo>
                  <a:lnTo>
                    <a:pt x="69197" y="0"/>
                  </a:lnTo>
                  <a:lnTo>
                    <a:pt x="69197" y="835133"/>
                  </a:lnTo>
                  <a:lnTo>
                    <a:pt x="0" y="835133"/>
                  </a:lnTo>
                  <a:close/>
                </a:path>
              </a:pathLst>
            </a:custGeom>
            <a:solidFill>
              <a:srgbClr val="FFFE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69197" cy="873233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2969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 rot="-10800000">
            <a:off x="5022830" y="6614625"/>
            <a:ext cx="2951513" cy="3061587"/>
            <a:chOff x="0" y="0"/>
            <a:chExt cx="867410" cy="899759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867410" cy="899759"/>
            </a:xfrm>
            <a:custGeom>
              <a:avLst/>
              <a:gdLst/>
              <a:ahLst/>
              <a:cxnLst/>
              <a:rect l="l" t="t" r="r" b="b"/>
              <a:pathLst>
                <a:path w="867410" h="899759">
                  <a:moveTo>
                    <a:pt x="52461" y="0"/>
                  </a:moveTo>
                  <a:lnTo>
                    <a:pt x="814949" y="0"/>
                  </a:lnTo>
                  <a:cubicBezTo>
                    <a:pt x="843923" y="0"/>
                    <a:pt x="867410" y="23487"/>
                    <a:pt x="867410" y="52461"/>
                  </a:cubicBezTo>
                  <a:lnTo>
                    <a:pt x="867410" y="847298"/>
                  </a:lnTo>
                  <a:cubicBezTo>
                    <a:pt x="867410" y="861212"/>
                    <a:pt x="861883" y="874555"/>
                    <a:pt x="852045" y="884394"/>
                  </a:cubicBezTo>
                  <a:cubicBezTo>
                    <a:pt x="842206" y="894232"/>
                    <a:pt x="828863" y="899759"/>
                    <a:pt x="814949" y="899759"/>
                  </a:cubicBezTo>
                  <a:lnTo>
                    <a:pt x="52461" y="899759"/>
                  </a:lnTo>
                  <a:cubicBezTo>
                    <a:pt x="23487" y="899759"/>
                    <a:pt x="0" y="876272"/>
                    <a:pt x="0" y="847298"/>
                  </a:cubicBezTo>
                  <a:lnTo>
                    <a:pt x="0" y="52461"/>
                  </a:lnTo>
                  <a:cubicBezTo>
                    <a:pt x="0" y="23487"/>
                    <a:pt x="23487" y="0"/>
                    <a:pt x="52461" y="0"/>
                  </a:cubicBezTo>
                  <a:close/>
                </a:path>
              </a:pathLst>
            </a:custGeom>
            <a:solidFill>
              <a:srgbClr val="FFFEFD"/>
            </a:solidFill>
            <a:ln w="142875" cap="sq">
              <a:solidFill>
                <a:srgbClr val="03B198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867410" cy="937859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2969"/>
                </a:lnSpc>
              </a:pPr>
              <a:endParaRPr/>
            </a:p>
          </p:txBody>
        </p:sp>
      </p:grpSp>
      <p:sp>
        <p:nvSpPr>
          <p:cNvPr id="85" name="TextBox 85"/>
          <p:cNvSpPr txBox="1"/>
          <p:nvPr/>
        </p:nvSpPr>
        <p:spPr>
          <a:xfrm rot="16200000">
            <a:off x="6146460" y="7889758"/>
            <a:ext cx="1953657" cy="447393"/>
          </a:xfrm>
          <a:prstGeom prst="rect">
            <a:avLst/>
          </a:prstGeom>
        </p:spPr>
        <p:txBody>
          <a:bodyPr lIns="45526" tIns="45526" rIns="45526" bIns="45526" rtlCol="0" anchor="ctr"/>
          <a:lstStyle/>
          <a:p>
            <a:pPr algn="ctr">
              <a:lnSpc>
                <a:spcPts val="2969"/>
              </a:lnSpc>
            </a:pPr>
            <a:endParaRPr/>
          </a:p>
        </p:txBody>
      </p:sp>
      <p:grpSp>
        <p:nvGrpSpPr>
          <p:cNvPr id="86" name="Group 86"/>
          <p:cNvGrpSpPr/>
          <p:nvPr/>
        </p:nvGrpSpPr>
        <p:grpSpPr>
          <a:xfrm rot="5400000">
            <a:off x="13504886" y="3053930"/>
            <a:ext cx="2841685" cy="1841742"/>
            <a:chOff x="-83832" y="-482495"/>
            <a:chExt cx="1219237" cy="790207"/>
          </a:xfrm>
        </p:grpSpPr>
        <p:sp>
          <p:nvSpPr>
            <p:cNvPr id="87" name="Freeform 87"/>
            <p:cNvSpPr/>
            <p:nvPr/>
          </p:nvSpPr>
          <p:spPr>
            <a:xfrm>
              <a:off x="-83832" y="-482495"/>
              <a:ext cx="1219237" cy="331383"/>
            </a:xfrm>
            <a:custGeom>
              <a:avLst/>
              <a:gdLst/>
              <a:ahLst/>
              <a:cxnLst/>
              <a:rect l="l" t="t" r="r" b="b"/>
              <a:pathLst>
                <a:path w="1219237" h="331383">
                  <a:moveTo>
                    <a:pt x="609618" y="0"/>
                  </a:moveTo>
                  <a:lnTo>
                    <a:pt x="1219237" y="331383"/>
                  </a:lnTo>
                  <a:lnTo>
                    <a:pt x="0" y="331383"/>
                  </a:lnTo>
                  <a:lnTo>
                    <a:pt x="609618" y="0"/>
                  </a:lnTo>
                  <a:close/>
                </a:path>
              </a:pathLst>
            </a:custGeom>
            <a:solidFill>
              <a:srgbClr val="FFFEFD"/>
            </a:solidFill>
            <a:ln w="57150" cap="sq">
              <a:solidFill>
                <a:srgbClr val="03B198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90506" y="106231"/>
              <a:ext cx="838225" cy="201481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 rot="-5400000">
            <a:off x="7614469" y="7521992"/>
            <a:ext cx="2841685" cy="1246851"/>
            <a:chOff x="0" y="0"/>
            <a:chExt cx="1219237" cy="331383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219237" cy="331383"/>
            </a:xfrm>
            <a:custGeom>
              <a:avLst/>
              <a:gdLst/>
              <a:ahLst/>
              <a:cxnLst/>
              <a:rect l="l" t="t" r="r" b="b"/>
              <a:pathLst>
                <a:path w="1219237" h="331383">
                  <a:moveTo>
                    <a:pt x="609618" y="0"/>
                  </a:moveTo>
                  <a:lnTo>
                    <a:pt x="1219237" y="331383"/>
                  </a:lnTo>
                  <a:lnTo>
                    <a:pt x="0" y="331383"/>
                  </a:lnTo>
                  <a:lnTo>
                    <a:pt x="609618" y="0"/>
                  </a:lnTo>
                  <a:close/>
                </a:path>
              </a:pathLst>
            </a:custGeom>
            <a:solidFill>
              <a:srgbClr val="FFFEFD"/>
            </a:solidFill>
            <a:ln w="57150" cap="sq">
              <a:solidFill>
                <a:srgbClr val="03B19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90506" y="115756"/>
              <a:ext cx="838225" cy="191956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2969"/>
                </a:lnSpc>
              </a:pPr>
              <a:endParaRPr/>
            </a:p>
          </p:txBody>
        </p:sp>
      </p:grpSp>
      <p:sp>
        <p:nvSpPr>
          <p:cNvPr id="97" name="TextBox 97"/>
          <p:cNvSpPr txBox="1"/>
          <p:nvPr/>
        </p:nvSpPr>
        <p:spPr>
          <a:xfrm rot="10800000">
            <a:off x="7402156" y="6711512"/>
            <a:ext cx="235456" cy="2933527"/>
          </a:xfrm>
          <a:prstGeom prst="rect">
            <a:avLst/>
          </a:prstGeom>
        </p:spPr>
        <p:txBody>
          <a:bodyPr lIns="45526" tIns="45526" rIns="45526" bIns="45526" rtlCol="0" anchor="ctr"/>
          <a:lstStyle/>
          <a:p>
            <a:pPr algn="ctr">
              <a:lnSpc>
                <a:spcPts val="2969"/>
              </a:lnSpc>
            </a:pPr>
            <a:endParaRPr/>
          </a:p>
        </p:txBody>
      </p:sp>
      <p:grpSp>
        <p:nvGrpSpPr>
          <p:cNvPr id="101" name="Group 101"/>
          <p:cNvGrpSpPr/>
          <p:nvPr/>
        </p:nvGrpSpPr>
        <p:grpSpPr>
          <a:xfrm rot="-5400000">
            <a:off x="2273271" y="7727276"/>
            <a:ext cx="2841685" cy="772357"/>
            <a:chOff x="0" y="0"/>
            <a:chExt cx="1219237" cy="331383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219237" cy="331383"/>
            </a:xfrm>
            <a:custGeom>
              <a:avLst/>
              <a:gdLst/>
              <a:ahLst/>
              <a:cxnLst/>
              <a:rect l="l" t="t" r="r" b="b"/>
              <a:pathLst>
                <a:path w="1219237" h="331383">
                  <a:moveTo>
                    <a:pt x="609618" y="0"/>
                  </a:moveTo>
                  <a:lnTo>
                    <a:pt x="1219237" y="331383"/>
                  </a:lnTo>
                  <a:lnTo>
                    <a:pt x="0" y="331383"/>
                  </a:lnTo>
                  <a:lnTo>
                    <a:pt x="609618" y="0"/>
                  </a:lnTo>
                  <a:close/>
                </a:path>
              </a:pathLst>
            </a:custGeom>
            <a:solidFill>
              <a:srgbClr val="FFFE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90506" y="115756"/>
              <a:ext cx="838225" cy="191956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2969"/>
                </a:lnSpc>
              </a:pPr>
              <a:endParaRPr/>
            </a:p>
          </p:txBody>
        </p:sp>
      </p:grpSp>
      <p:sp>
        <p:nvSpPr>
          <p:cNvPr id="109" name="TextBox 109"/>
          <p:cNvSpPr txBox="1"/>
          <p:nvPr/>
        </p:nvSpPr>
        <p:spPr>
          <a:xfrm>
            <a:off x="15791912" y="2165857"/>
            <a:ext cx="235456" cy="3003737"/>
          </a:xfrm>
          <a:prstGeom prst="rect">
            <a:avLst/>
          </a:prstGeom>
        </p:spPr>
        <p:txBody>
          <a:bodyPr lIns="45526" tIns="45526" rIns="45526" bIns="45526" rtlCol="0" anchor="ctr"/>
          <a:lstStyle/>
          <a:p>
            <a:pPr algn="ctr">
              <a:lnSpc>
                <a:spcPts val="3779"/>
              </a:lnSpc>
            </a:pPr>
            <a:endParaRPr/>
          </a:p>
        </p:txBody>
      </p:sp>
      <p:grpSp>
        <p:nvGrpSpPr>
          <p:cNvPr id="110" name="Group 110"/>
          <p:cNvGrpSpPr/>
          <p:nvPr/>
        </p:nvGrpSpPr>
        <p:grpSpPr>
          <a:xfrm rot="-10800000">
            <a:off x="4080292" y="6711512"/>
            <a:ext cx="235456" cy="2803885"/>
            <a:chOff x="0" y="0"/>
            <a:chExt cx="69197" cy="824024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69197" cy="824024"/>
            </a:xfrm>
            <a:custGeom>
              <a:avLst/>
              <a:gdLst/>
              <a:ahLst/>
              <a:cxnLst/>
              <a:rect l="l" t="t" r="r" b="b"/>
              <a:pathLst>
                <a:path w="69197" h="824024">
                  <a:moveTo>
                    <a:pt x="0" y="0"/>
                  </a:moveTo>
                  <a:lnTo>
                    <a:pt x="69197" y="0"/>
                  </a:lnTo>
                  <a:lnTo>
                    <a:pt x="69197" y="824024"/>
                  </a:lnTo>
                  <a:lnTo>
                    <a:pt x="0" y="824024"/>
                  </a:lnTo>
                  <a:close/>
                </a:path>
              </a:pathLst>
            </a:custGeom>
            <a:solidFill>
              <a:srgbClr val="FFFE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69197" cy="862124"/>
            </a:xfrm>
            <a:prstGeom prst="rect">
              <a:avLst/>
            </a:prstGeom>
          </p:spPr>
          <p:txBody>
            <a:bodyPr lIns="45526" tIns="45526" rIns="45526" bIns="45526" rtlCol="0" anchor="ctr"/>
            <a:lstStyle/>
            <a:p>
              <a:pPr algn="ctr">
                <a:lnSpc>
                  <a:spcPts val="2969"/>
                </a:lnSpc>
              </a:pPr>
              <a:endParaRPr/>
            </a:p>
          </p:txBody>
        </p:sp>
      </p:grpSp>
      <p:sp>
        <p:nvSpPr>
          <p:cNvPr id="113" name="Freeform 113"/>
          <p:cNvSpPr/>
          <p:nvPr/>
        </p:nvSpPr>
        <p:spPr>
          <a:xfrm>
            <a:off x="-253691" y="10041806"/>
            <a:ext cx="1011023" cy="505512"/>
          </a:xfrm>
          <a:custGeom>
            <a:avLst/>
            <a:gdLst/>
            <a:ahLst/>
            <a:cxnLst/>
            <a:rect l="l" t="t" r="r" b="b"/>
            <a:pathLst>
              <a:path w="1011023" h="505512">
                <a:moveTo>
                  <a:pt x="0" y="0"/>
                </a:moveTo>
                <a:lnTo>
                  <a:pt x="1011023" y="0"/>
                </a:lnTo>
                <a:lnTo>
                  <a:pt x="1011023" y="505512"/>
                </a:lnTo>
                <a:lnTo>
                  <a:pt x="0" y="505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4" name="TextBox 114"/>
          <p:cNvSpPr txBox="1"/>
          <p:nvPr/>
        </p:nvSpPr>
        <p:spPr>
          <a:xfrm>
            <a:off x="3523391" y="3408460"/>
            <a:ext cx="1760005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3000" spc="15" dirty="0">
                <a:solidFill>
                  <a:srgbClr val="000000"/>
                </a:solidFill>
                <a:latin typeface="Andada Pro Bold"/>
              </a:rPr>
              <a:t>Data Sourcing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608942" y="7580638"/>
            <a:ext cx="2096562" cy="839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499" spc="12" dirty="0">
                <a:solidFill>
                  <a:srgbClr val="000000"/>
                </a:solidFill>
                <a:latin typeface="Andada Pro Bold"/>
              </a:rPr>
              <a:t> Proposed Model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7575017" y="3440884"/>
            <a:ext cx="2243295" cy="839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499" spc="12" dirty="0">
                <a:solidFill>
                  <a:srgbClr val="000000"/>
                </a:solidFill>
                <a:latin typeface="Andada Pro Bold"/>
              </a:rPr>
              <a:t>Data Preprocessing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2258065" y="3421485"/>
            <a:ext cx="2146785" cy="83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400" spc="12" dirty="0">
                <a:solidFill>
                  <a:srgbClr val="000000"/>
                </a:solidFill>
                <a:latin typeface="Andada Pro Bold"/>
              </a:rPr>
              <a:t>Data Augmentation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5440552" y="7653128"/>
            <a:ext cx="1857753" cy="1275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499" spc="12" dirty="0">
                <a:solidFill>
                  <a:srgbClr val="000000"/>
                </a:solidFill>
                <a:latin typeface="Andada Pro Bold"/>
              </a:rPr>
              <a:t>Training and Evaluation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866322" y="375685"/>
            <a:ext cx="14722249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spc="45" dirty="0">
                <a:solidFill>
                  <a:srgbClr val="000000"/>
                </a:solidFill>
                <a:latin typeface="Andada Pro Bold"/>
              </a:rPr>
              <a:t>Methodology</a:t>
            </a:r>
          </a:p>
        </p:txBody>
      </p:sp>
      <p:sp>
        <p:nvSpPr>
          <p:cNvPr id="124" name="Freeform 124"/>
          <p:cNvSpPr/>
          <p:nvPr/>
        </p:nvSpPr>
        <p:spPr>
          <a:xfrm>
            <a:off x="17658199" y="-390317"/>
            <a:ext cx="1259601" cy="861252"/>
          </a:xfrm>
          <a:custGeom>
            <a:avLst/>
            <a:gdLst/>
            <a:ahLst/>
            <a:cxnLst/>
            <a:rect l="l" t="t" r="r" b="b"/>
            <a:pathLst>
              <a:path w="1259601" h="861252">
                <a:moveTo>
                  <a:pt x="0" y="0"/>
                </a:moveTo>
                <a:lnTo>
                  <a:pt x="1259602" y="0"/>
                </a:lnTo>
                <a:lnTo>
                  <a:pt x="1259602" y="861252"/>
                </a:lnTo>
                <a:lnTo>
                  <a:pt x="0" y="861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3650184" y="2659263"/>
            <a:ext cx="633086" cy="633086"/>
          </a:xfrm>
          <a:custGeom>
            <a:avLst/>
            <a:gdLst/>
            <a:ahLst/>
            <a:cxnLst/>
            <a:rect l="l" t="t" r="r" b="b"/>
            <a:pathLst>
              <a:path w="633086" h="633086">
                <a:moveTo>
                  <a:pt x="0" y="0"/>
                </a:moveTo>
                <a:lnTo>
                  <a:pt x="633087" y="0"/>
                </a:lnTo>
                <a:lnTo>
                  <a:pt x="633087" y="633086"/>
                </a:lnTo>
                <a:lnTo>
                  <a:pt x="0" y="6330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6" name="Freeform 126"/>
          <p:cNvSpPr/>
          <p:nvPr/>
        </p:nvSpPr>
        <p:spPr>
          <a:xfrm>
            <a:off x="7585082" y="2787659"/>
            <a:ext cx="562259" cy="525712"/>
          </a:xfrm>
          <a:custGeom>
            <a:avLst/>
            <a:gdLst/>
            <a:ahLst/>
            <a:cxnLst/>
            <a:rect l="l" t="t" r="r" b="b"/>
            <a:pathLst>
              <a:path w="562259" h="525712">
                <a:moveTo>
                  <a:pt x="0" y="0"/>
                </a:moveTo>
                <a:lnTo>
                  <a:pt x="562259" y="0"/>
                </a:lnTo>
                <a:lnTo>
                  <a:pt x="562259" y="525712"/>
                </a:lnTo>
                <a:lnTo>
                  <a:pt x="0" y="5257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7" name="Freeform 127"/>
          <p:cNvSpPr/>
          <p:nvPr/>
        </p:nvSpPr>
        <p:spPr>
          <a:xfrm>
            <a:off x="12615186" y="2712658"/>
            <a:ext cx="541134" cy="544538"/>
          </a:xfrm>
          <a:custGeom>
            <a:avLst/>
            <a:gdLst/>
            <a:ahLst/>
            <a:cxnLst/>
            <a:rect l="l" t="t" r="r" b="b"/>
            <a:pathLst>
              <a:path w="541134" h="544538">
                <a:moveTo>
                  <a:pt x="0" y="0"/>
                </a:moveTo>
                <a:lnTo>
                  <a:pt x="541135" y="0"/>
                </a:lnTo>
                <a:lnTo>
                  <a:pt x="541135" y="544538"/>
                </a:lnTo>
                <a:lnTo>
                  <a:pt x="0" y="5445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1" name="Freeform 131"/>
          <p:cNvSpPr/>
          <p:nvPr/>
        </p:nvSpPr>
        <p:spPr>
          <a:xfrm>
            <a:off x="5657333" y="7086393"/>
            <a:ext cx="579940" cy="509622"/>
          </a:xfrm>
          <a:custGeom>
            <a:avLst/>
            <a:gdLst/>
            <a:ahLst/>
            <a:cxnLst/>
            <a:rect l="l" t="t" r="r" b="b"/>
            <a:pathLst>
              <a:path w="579940" h="509622">
                <a:moveTo>
                  <a:pt x="0" y="0"/>
                </a:moveTo>
                <a:lnTo>
                  <a:pt x="579940" y="0"/>
                </a:lnTo>
                <a:lnTo>
                  <a:pt x="579940" y="509622"/>
                </a:lnTo>
                <a:lnTo>
                  <a:pt x="0" y="5096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2" name="Freeform 132"/>
          <p:cNvSpPr/>
          <p:nvPr/>
        </p:nvSpPr>
        <p:spPr>
          <a:xfrm>
            <a:off x="10390522" y="6836374"/>
            <a:ext cx="600502" cy="600502"/>
          </a:xfrm>
          <a:custGeom>
            <a:avLst/>
            <a:gdLst/>
            <a:ahLst/>
            <a:cxnLst/>
            <a:rect l="l" t="t" r="r" b="b"/>
            <a:pathLst>
              <a:path w="600502" h="600502">
                <a:moveTo>
                  <a:pt x="0" y="0"/>
                </a:moveTo>
                <a:lnTo>
                  <a:pt x="600503" y="0"/>
                </a:lnTo>
                <a:lnTo>
                  <a:pt x="600503" y="600503"/>
                </a:lnTo>
                <a:lnTo>
                  <a:pt x="0" y="60050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440" t="-1162" r="-1123" b="-14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4" name="Freeform 134"/>
          <p:cNvSpPr/>
          <p:nvPr/>
        </p:nvSpPr>
        <p:spPr>
          <a:xfrm>
            <a:off x="18080493" y="10141371"/>
            <a:ext cx="415014" cy="251429"/>
          </a:xfrm>
          <a:custGeom>
            <a:avLst/>
            <a:gdLst/>
            <a:ahLst/>
            <a:cxnLst/>
            <a:rect l="l" t="t" r="r" b="b"/>
            <a:pathLst>
              <a:path w="415014" h="251429">
                <a:moveTo>
                  <a:pt x="0" y="0"/>
                </a:moveTo>
                <a:lnTo>
                  <a:pt x="415014" y="0"/>
                </a:lnTo>
                <a:lnTo>
                  <a:pt x="415014" y="251429"/>
                </a:lnTo>
                <a:lnTo>
                  <a:pt x="0" y="25142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5" name="TextBox 135"/>
          <p:cNvSpPr txBox="1"/>
          <p:nvPr/>
        </p:nvSpPr>
        <p:spPr>
          <a:xfrm>
            <a:off x="5223720" y="1408968"/>
            <a:ext cx="7536954" cy="566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ndada Pro Bold"/>
              </a:rPr>
              <a:t>Data Collection and Preprocessing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8170753" y="5598046"/>
            <a:ext cx="148798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ndada Pro Bold"/>
              </a:rPr>
              <a:t>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327630" y="3635345"/>
            <a:ext cx="2823558" cy="3795750"/>
            <a:chOff x="0" y="0"/>
            <a:chExt cx="588338" cy="7909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8338" cy="786759"/>
            </a:xfrm>
            <a:custGeom>
              <a:avLst/>
              <a:gdLst/>
              <a:ahLst/>
              <a:cxnLst/>
              <a:rect l="l" t="t" r="r" b="b"/>
              <a:pathLst>
                <a:path w="588338" h="786759">
                  <a:moveTo>
                    <a:pt x="588338" y="32132"/>
                  </a:moveTo>
                  <a:lnTo>
                    <a:pt x="588338" y="644479"/>
                  </a:lnTo>
                  <a:cubicBezTo>
                    <a:pt x="588338" y="663850"/>
                    <a:pt x="576443" y="681232"/>
                    <a:pt x="558387" y="688248"/>
                  </a:cubicBezTo>
                  <a:lnTo>
                    <a:pt x="324119" y="779273"/>
                  </a:lnTo>
                  <a:cubicBezTo>
                    <a:pt x="304854" y="786759"/>
                    <a:pt x="283484" y="786759"/>
                    <a:pt x="264219" y="779273"/>
                  </a:cubicBezTo>
                  <a:lnTo>
                    <a:pt x="29950" y="688248"/>
                  </a:lnTo>
                  <a:cubicBezTo>
                    <a:pt x="11895" y="681232"/>
                    <a:pt x="0" y="663850"/>
                    <a:pt x="0" y="644479"/>
                  </a:cubicBezTo>
                  <a:lnTo>
                    <a:pt x="0" y="32132"/>
                  </a:lnTo>
                  <a:cubicBezTo>
                    <a:pt x="0" y="14386"/>
                    <a:pt x="14386" y="0"/>
                    <a:pt x="32132" y="0"/>
                  </a:cubicBezTo>
                  <a:lnTo>
                    <a:pt x="556206" y="0"/>
                  </a:lnTo>
                  <a:cubicBezTo>
                    <a:pt x="564728" y="0"/>
                    <a:pt x="572901" y="3385"/>
                    <a:pt x="578926" y="9411"/>
                  </a:cubicBezTo>
                  <a:cubicBezTo>
                    <a:pt x="584952" y="15437"/>
                    <a:pt x="588338" y="23610"/>
                    <a:pt x="588338" y="32132"/>
                  </a:cubicBezTo>
                  <a:close/>
                </a:path>
              </a:pathLst>
            </a:custGeom>
            <a:solidFill>
              <a:srgbClr val="235A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8338" cy="724236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7630" y="7705115"/>
            <a:ext cx="2823558" cy="335748"/>
            <a:chOff x="0" y="0"/>
            <a:chExt cx="827188" cy="983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7188" cy="98361"/>
            </a:xfrm>
            <a:custGeom>
              <a:avLst/>
              <a:gdLst/>
              <a:ahLst/>
              <a:cxnLst/>
              <a:rect l="l" t="t" r="r" b="b"/>
              <a:pathLst>
                <a:path w="827188" h="98361">
                  <a:moveTo>
                    <a:pt x="41129" y="0"/>
                  </a:moveTo>
                  <a:lnTo>
                    <a:pt x="786059" y="0"/>
                  </a:lnTo>
                  <a:cubicBezTo>
                    <a:pt x="808774" y="0"/>
                    <a:pt x="827188" y="18414"/>
                    <a:pt x="827188" y="41129"/>
                  </a:cubicBezTo>
                  <a:lnTo>
                    <a:pt x="827188" y="57232"/>
                  </a:lnTo>
                  <a:cubicBezTo>
                    <a:pt x="827188" y="79947"/>
                    <a:pt x="808774" y="98361"/>
                    <a:pt x="786059" y="98361"/>
                  </a:cubicBezTo>
                  <a:lnTo>
                    <a:pt x="41129" y="98361"/>
                  </a:lnTo>
                  <a:cubicBezTo>
                    <a:pt x="18414" y="98361"/>
                    <a:pt x="0" y="79947"/>
                    <a:pt x="0" y="57232"/>
                  </a:cubicBezTo>
                  <a:lnTo>
                    <a:pt x="0" y="41129"/>
                  </a:lnTo>
                  <a:cubicBezTo>
                    <a:pt x="0" y="18414"/>
                    <a:pt x="18414" y="0"/>
                    <a:pt x="41129" y="0"/>
                  </a:cubicBezTo>
                  <a:close/>
                </a:path>
              </a:pathLst>
            </a:custGeom>
            <a:solidFill>
              <a:srgbClr val="235A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27188" cy="145986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73420" y="7269960"/>
            <a:ext cx="2331977" cy="596291"/>
            <a:chOff x="0" y="0"/>
            <a:chExt cx="158935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89350" cy="406400"/>
            </a:xfrm>
            <a:custGeom>
              <a:avLst/>
              <a:gdLst/>
              <a:ahLst/>
              <a:cxnLst/>
              <a:rect l="l" t="t" r="r" b="b"/>
              <a:pathLst>
                <a:path w="1589350" h="406400">
                  <a:moveTo>
                    <a:pt x="138615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86150" y="406400"/>
                  </a:lnTo>
                  <a:lnTo>
                    <a:pt x="1589350" y="203200"/>
                  </a:lnTo>
                  <a:lnTo>
                    <a:pt x="1386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400" y="-47625"/>
              <a:ext cx="1284550" cy="454025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927958" y="2823895"/>
            <a:ext cx="1622901" cy="1622901"/>
            <a:chOff x="0" y="0"/>
            <a:chExt cx="495300" cy="495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235A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4529925" y="3635345"/>
            <a:ext cx="2823558" cy="3795750"/>
            <a:chOff x="0" y="0"/>
            <a:chExt cx="588338" cy="7909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88338" cy="786759"/>
            </a:xfrm>
            <a:custGeom>
              <a:avLst/>
              <a:gdLst/>
              <a:ahLst/>
              <a:cxnLst/>
              <a:rect l="l" t="t" r="r" b="b"/>
              <a:pathLst>
                <a:path w="588338" h="786759">
                  <a:moveTo>
                    <a:pt x="588338" y="32132"/>
                  </a:moveTo>
                  <a:lnTo>
                    <a:pt x="588338" y="644479"/>
                  </a:lnTo>
                  <a:cubicBezTo>
                    <a:pt x="588338" y="663850"/>
                    <a:pt x="576443" y="681232"/>
                    <a:pt x="558387" y="688248"/>
                  </a:cubicBezTo>
                  <a:lnTo>
                    <a:pt x="324119" y="779273"/>
                  </a:lnTo>
                  <a:cubicBezTo>
                    <a:pt x="304854" y="786759"/>
                    <a:pt x="283484" y="786759"/>
                    <a:pt x="264219" y="779273"/>
                  </a:cubicBezTo>
                  <a:lnTo>
                    <a:pt x="29950" y="688248"/>
                  </a:lnTo>
                  <a:cubicBezTo>
                    <a:pt x="11895" y="681232"/>
                    <a:pt x="0" y="663850"/>
                    <a:pt x="0" y="644479"/>
                  </a:cubicBezTo>
                  <a:lnTo>
                    <a:pt x="0" y="32132"/>
                  </a:lnTo>
                  <a:cubicBezTo>
                    <a:pt x="0" y="14386"/>
                    <a:pt x="14386" y="0"/>
                    <a:pt x="32132" y="0"/>
                  </a:cubicBezTo>
                  <a:lnTo>
                    <a:pt x="556206" y="0"/>
                  </a:lnTo>
                  <a:cubicBezTo>
                    <a:pt x="564728" y="0"/>
                    <a:pt x="572901" y="3385"/>
                    <a:pt x="578926" y="9411"/>
                  </a:cubicBezTo>
                  <a:cubicBezTo>
                    <a:pt x="584952" y="15437"/>
                    <a:pt x="588338" y="23610"/>
                    <a:pt x="588338" y="32132"/>
                  </a:cubicBezTo>
                  <a:close/>
                </a:path>
              </a:pathLst>
            </a:custGeom>
            <a:solidFill>
              <a:srgbClr val="3275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588338" cy="724236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5130254" y="2823895"/>
            <a:ext cx="1622901" cy="1622901"/>
            <a:chOff x="0" y="0"/>
            <a:chExt cx="495300" cy="495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3275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29925" y="7705115"/>
            <a:ext cx="2823558" cy="335748"/>
            <a:chOff x="0" y="0"/>
            <a:chExt cx="827188" cy="983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7188" cy="98361"/>
            </a:xfrm>
            <a:custGeom>
              <a:avLst/>
              <a:gdLst/>
              <a:ahLst/>
              <a:cxnLst/>
              <a:rect l="l" t="t" r="r" b="b"/>
              <a:pathLst>
                <a:path w="827188" h="98361">
                  <a:moveTo>
                    <a:pt x="41129" y="0"/>
                  </a:moveTo>
                  <a:lnTo>
                    <a:pt x="786059" y="0"/>
                  </a:lnTo>
                  <a:cubicBezTo>
                    <a:pt x="808774" y="0"/>
                    <a:pt x="827188" y="18414"/>
                    <a:pt x="827188" y="41129"/>
                  </a:cubicBezTo>
                  <a:lnTo>
                    <a:pt x="827188" y="57232"/>
                  </a:lnTo>
                  <a:cubicBezTo>
                    <a:pt x="827188" y="79947"/>
                    <a:pt x="808774" y="98361"/>
                    <a:pt x="786059" y="98361"/>
                  </a:cubicBezTo>
                  <a:lnTo>
                    <a:pt x="41129" y="98361"/>
                  </a:lnTo>
                  <a:cubicBezTo>
                    <a:pt x="18414" y="98361"/>
                    <a:pt x="0" y="79947"/>
                    <a:pt x="0" y="57232"/>
                  </a:cubicBezTo>
                  <a:lnTo>
                    <a:pt x="0" y="41129"/>
                  </a:lnTo>
                  <a:cubicBezTo>
                    <a:pt x="0" y="18414"/>
                    <a:pt x="18414" y="0"/>
                    <a:pt x="41129" y="0"/>
                  </a:cubicBezTo>
                  <a:close/>
                </a:path>
              </a:pathLst>
            </a:custGeom>
            <a:solidFill>
              <a:srgbClr val="3275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27188" cy="145986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75716" y="7269960"/>
            <a:ext cx="2331977" cy="596291"/>
            <a:chOff x="0" y="0"/>
            <a:chExt cx="1589350" cy="406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89350" cy="406400"/>
            </a:xfrm>
            <a:custGeom>
              <a:avLst/>
              <a:gdLst/>
              <a:ahLst/>
              <a:cxnLst/>
              <a:rect l="l" t="t" r="r" b="b"/>
              <a:pathLst>
                <a:path w="1589350" h="406400">
                  <a:moveTo>
                    <a:pt x="138615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86150" y="406400"/>
                  </a:lnTo>
                  <a:lnTo>
                    <a:pt x="1589350" y="203200"/>
                  </a:lnTo>
                  <a:lnTo>
                    <a:pt x="1386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2400" y="-47625"/>
              <a:ext cx="1284550" cy="454025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10800000">
            <a:off x="7732221" y="3635345"/>
            <a:ext cx="2823558" cy="3795750"/>
            <a:chOff x="0" y="0"/>
            <a:chExt cx="588338" cy="79091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88338" cy="786759"/>
            </a:xfrm>
            <a:custGeom>
              <a:avLst/>
              <a:gdLst/>
              <a:ahLst/>
              <a:cxnLst/>
              <a:rect l="l" t="t" r="r" b="b"/>
              <a:pathLst>
                <a:path w="588338" h="786759">
                  <a:moveTo>
                    <a:pt x="588338" y="32132"/>
                  </a:moveTo>
                  <a:lnTo>
                    <a:pt x="588338" y="644479"/>
                  </a:lnTo>
                  <a:cubicBezTo>
                    <a:pt x="588338" y="663850"/>
                    <a:pt x="576443" y="681232"/>
                    <a:pt x="558387" y="688248"/>
                  </a:cubicBezTo>
                  <a:lnTo>
                    <a:pt x="324119" y="779273"/>
                  </a:lnTo>
                  <a:cubicBezTo>
                    <a:pt x="304854" y="786759"/>
                    <a:pt x="283484" y="786759"/>
                    <a:pt x="264219" y="779273"/>
                  </a:cubicBezTo>
                  <a:lnTo>
                    <a:pt x="29950" y="688248"/>
                  </a:lnTo>
                  <a:cubicBezTo>
                    <a:pt x="11895" y="681232"/>
                    <a:pt x="0" y="663850"/>
                    <a:pt x="0" y="644479"/>
                  </a:cubicBezTo>
                  <a:lnTo>
                    <a:pt x="0" y="32132"/>
                  </a:lnTo>
                  <a:cubicBezTo>
                    <a:pt x="0" y="14386"/>
                    <a:pt x="14386" y="0"/>
                    <a:pt x="32132" y="0"/>
                  </a:cubicBezTo>
                  <a:lnTo>
                    <a:pt x="556206" y="0"/>
                  </a:lnTo>
                  <a:cubicBezTo>
                    <a:pt x="564728" y="0"/>
                    <a:pt x="572901" y="3385"/>
                    <a:pt x="578926" y="9411"/>
                  </a:cubicBezTo>
                  <a:cubicBezTo>
                    <a:pt x="584952" y="15437"/>
                    <a:pt x="588338" y="23610"/>
                    <a:pt x="588338" y="32132"/>
                  </a:cubicBezTo>
                  <a:close/>
                </a:path>
              </a:pathLst>
            </a:custGeom>
            <a:solidFill>
              <a:srgbClr val="40878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588338" cy="724236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732221" y="7705115"/>
            <a:ext cx="2823558" cy="335748"/>
            <a:chOff x="0" y="0"/>
            <a:chExt cx="827188" cy="9836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7188" cy="98361"/>
            </a:xfrm>
            <a:custGeom>
              <a:avLst/>
              <a:gdLst/>
              <a:ahLst/>
              <a:cxnLst/>
              <a:rect l="l" t="t" r="r" b="b"/>
              <a:pathLst>
                <a:path w="827188" h="98361">
                  <a:moveTo>
                    <a:pt x="41129" y="0"/>
                  </a:moveTo>
                  <a:lnTo>
                    <a:pt x="786059" y="0"/>
                  </a:lnTo>
                  <a:cubicBezTo>
                    <a:pt x="808774" y="0"/>
                    <a:pt x="827188" y="18414"/>
                    <a:pt x="827188" y="41129"/>
                  </a:cubicBezTo>
                  <a:lnTo>
                    <a:pt x="827188" y="57232"/>
                  </a:lnTo>
                  <a:cubicBezTo>
                    <a:pt x="827188" y="79947"/>
                    <a:pt x="808774" y="98361"/>
                    <a:pt x="786059" y="98361"/>
                  </a:cubicBezTo>
                  <a:lnTo>
                    <a:pt x="41129" y="98361"/>
                  </a:lnTo>
                  <a:cubicBezTo>
                    <a:pt x="18414" y="98361"/>
                    <a:pt x="0" y="79947"/>
                    <a:pt x="0" y="57232"/>
                  </a:cubicBezTo>
                  <a:lnTo>
                    <a:pt x="0" y="41129"/>
                  </a:lnTo>
                  <a:cubicBezTo>
                    <a:pt x="0" y="18414"/>
                    <a:pt x="18414" y="0"/>
                    <a:pt x="41129" y="0"/>
                  </a:cubicBezTo>
                  <a:close/>
                </a:path>
              </a:pathLst>
            </a:custGeom>
            <a:solidFill>
              <a:srgbClr val="40878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827188" cy="145986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978012" y="7269960"/>
            <a:ext cx="2331977" cy="596291"/>
            <a:chOff x="0" y="0"/>
            <a:chExt cx="1589350" cy="406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89350" cy="406400"/>
            </a:xfrm>
            <a:custGeom>
              <a:avLst/>
              <a:gdLst/>
              <a:ahLst/>
              <a:cxnLst/>
              <a:rect l="l" t="t" r="r" b="b"/>
              <a:pathLst>
                <a:path w="1589350" h="406400">
                  <a:moveTo>
                    <a:pt x="138615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86150" y="406400"/>
                  </a:lnTo>
                  <a:lnTo>
                    <a:pt x="1589350" y="203200"/>
                  </a:lnTo>
                  <a:lnTo>
                    <a:pt x="1386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2400" y="-47625"/>
              <a:ext cx="1284550" cy="454025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 rot="-10800000">
            <a:off x="10934517" y="3635345"/>
            <a:ext cx="2823558" cy="3795750"/>
            <a:chOff x="0" y="0"/>
            <a:chExt cx="588338" cy="79091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88338" cy="786759"/>
            </a:xfrm>
            <a:custGeom>
              <a:avLst/>
              <a:gdLst/>
              <a:ahLst/>
              <a:cxnLst/>
              <a:rect l="l" t="t" r="r" b="b"/>
              <a:pathLst>
                <a:path w="588338" h="786759">
                  <a:moveTo>
                    <a:pt x="588338" y="32132"/>
                  </a:moveTo>
                  <a:lnTo>
                    <a:pt x="588338" y="644479"/>
                  </a:lnTo>
                  <a:cubicBezTo>
                    <a:pt x="588338" y="663850"/>
                    <a:pt x="576443" y="681232"/>
                    <a:pt x="558387" y="688248"/>
                  </a:cubicBezTo>
                  <a:lnTo>
                    <a:pt x="324119" y="779273"/>
                  </a:lnTo>
                  <a:cubicBezTo>
                    <a:pt x="304854" y="786759"/>
                    <a:pt x="283484" y="786759"/>
                    <a:pt x="264219" y="779273"/>
                  </a:cubicBezTo>
                  <a:lnTo>
                    <a:pt x="29950" y="688248"/>
                  </a:lnTo>
                  <a:cubicBezTo>
                    <a:pt x="11895" y="681232"/>
                    <a:pt x="0" y="663850"/>
                    <a:pt x="0" y="644479"/>
                  </a:cubicBezTo>
                  <a:lnTo>
                    <a:pt x="0" y="32132"/>
                  </a:lnTo>
                  <a:cubicBezTo>
                    <a:pt x="0" y="14386"/>
                    <a:pt x="14386" y="0"/>
                    <a:pt x="32132" y="0"/>
                  </a:cubicBezTo>
                  <a:lnTo>
                    <a:pt x="556206" y="0"/>
                  </a:lnTo>
                  <a:cubicBezTo>
                    <a:pt x="564728" y="0"/>
                    <a:pt x="572901" y="3385"/>
                    <a:pt x="578926" y="9411"/>
                  </a:cubicBezTo>
                  <a:cubicBezTo>
                    <a:pt x="584952" y="15437"/>
                    <a:pt x="588338" y="23610"/>
                    <a:pt x="588338" y="32132"/>
                  </a:cubicBezTo>
                  <a:close/>
                </a:path>
              </a:pathLst>
            </a:custGeom>
            <a:solidFill>
              <a:srgbClr val="639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588338" cy="724236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934517" y="7705115"/>
            <a:ext cx="2823558" cy="335748"/>
            <a:chOff x="0" y="0"/>
            <a:chExt cx="827188" cy="9836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27188" cy="98361"/>
            </a:xfrm>
            <a:custGeom>
              <a:avLst/>
              <a:gdLst/>
              <a:ahLst/>
              <a:cxnLst/>
              <a:rect l="l" t="t" r="r" b="b"/>
              <a:pathLst>
                <a:path w="827188" h="98361">
                  <a:moveTo>
                    <a:pt x="41129" y="0"/>
                  </a:moveTo>
                  <a:lnTo>
                    <a:pt x="786059" y="0"/>
                  </a:lnTo>
                  <a:cubicBezTo>
                    <a:pt x="808774" y="0"/>
                    <a:pt x="827188" y="18414"/>
                    <a:pt x="827188" y="41129"/>
                  </a:cubicBezTo>
                  <a:lnTo>
                    <a:pt x="827188" y="57232"/>
                  </a:lnTo>
                  <a:cubicBezTo>
                    <a:pt x="827188" y="79947"/>
                    <a:pt x="808774" y="98361"/>
                    <a:pt x="786059" y="98361"/>
                  </a:cubicBezTo>
                  <a:lnTo>
                    <a:pt x="41129" y="98361"/>
                  </a:lnTo>
                  <a:cubicBezTo>
                    <a:pt x="18414" y="98361"/>
                    <a:pt x="0" y="79947"/>
                    <a:pt x="0" y="57232"/>
                  </a:cubicBezTo>
                  <a:lnTo>
                    <a:pt x="0" y="41129"/>
                  </a:lnTo>
                  <a:cubicBezTo>
                    <a:pt x="0" y="18414"/>
                    <a:pt x="18414" y="0"/>
                    <a:pt x="41129" y="0"/>
                  </a:cubicBezTo>
                  <a:close/>
                </a:path>
              </a:pathLst>
            </a:custGeom>
            <a:solidFill>
              <a:srgbClr val="639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827188" cy="145986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180307" y="7269960"/>
            <a:ext cx="2331977" cy="596291"/>
            <a:chOff x="0" y="0"/>
            <a:chExt cx="1589350" cy="406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589350" cy="406400"/>
            </a:xfrm>
            <a:custGeom>
              <a:avLst/>
              <a:gdLst/>
              <a:ahLst/>
              <a:cxnLst/>
              <a:rect l="l" t="t" r="r" b="b"/>
              <a:pathLst>
                <a:path w="1589350" h="406400">
                  <a:moveTo>
                    <a:pt x="138615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86150" y="406400"/>
                  </a:lnTo>
                  <a:lnTo>
                    <a:pt x="1589350" y="203200"/>
                  </a:lnTo>
                  <a:lnTo>
                    <a:pt x="1386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2400" y="-47625"/>
              <a:ext cx="1284550" cy="454025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 rot="-10800000">
            <a:off x="14050985" y="3681209"/>
            <a:ext cx="2823558" cy="3795750"/>
            <a:chOff x="0" y="0"/>
            <a:chExt cx="588338" cy="79091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88338" cy="786759"/>
            </a:xfrm>
            <a:custGeom>
              <a:avLst/>
              <a:gdLst/>
              <a:ahLst/>
              <a:cxnLst/>
              <a:rect l="l" t="t" r="r" b="b"/>
              <a:pathLst>
                <a:path w="588338" h="786759">
                  <a:moveTo>
                    <a:pt x="588338" y="32132"/>
                  </a:moveTo>
                  <a:lnTo>
                    <a:pt x="588338" y="644479"/>
                  </a:lnTo>
                  <a:cubicBezTo>
                    <a:pt x="588338" y="663850"/>
                    <a:pt x="576443" y="681232"/>
                    <a:pt x="558387" y="688248"/>
                  </a:cubicBezTo>
                  <a:lnTo>
                    <a:pt x="324119" y="779273"/>
                  </a:lnTo>
                  <a:cubicBezTo>
                    <a:pt x="304854" y="786759"/>
                    <a:pt x="283484" y="786759"/>
                    <a:pt x="264219" y="779273"/>
                  </a:cubicBezTo>
                  <a:lnTo>
                    <a:pt x="29950" y="688248"/>
                  </a:lnTo>
                  <a:cubicBezTo>
                    <a:pt x="11895" y="681232"/>
                    <a:pt x="0" y="663850"/>
                    <a:pt x="0" y="644479"/>
                  </a:cubicBezTo>
                  <a:lnTo>
                    <a:pt x="0" y="32132"/>
                  </a:lnTo>
                  <a:cubicBezTo>
                    <a:pt x="0" y="14386"/>
                    <a:pt x="14386" y="0"/>
                    <a:pt x="32132" y="0"/>
                  </a:cubicBezTo>
                  <a:lnTo>
                    <a:pt x="556206" y="0"/>
                  </a:lnTo>
                  <a:cubicBezTo>
                    <a:pt x="564728" y="0"/>
                    <a:pt x="572901" y="3385"/>
                    <a:pt x="578926" y="9411"/>
                  </a:cubicBezTo>
                  <a:cubicBezTo>
                    <a:pt x="584952" y="15437"/>
                    <a:pt x="588338" y="23610"/>
                    <a:pt x="588338" y="32132"/>
                  </a:cubicBezTo>
                  <a:close/>
                </a:path>
              </a:pathLst>
            </a:custGeom>
            <a:solidFill>
              <a:srgbClr val="235A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588338" cy="724236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136812" y="7705115"/>
            <a:ext cx="2823558" cy="335748"/>
            <a:chOff x="0" y="0"/>
            <a:chExt cx="827188" cy="9836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27188" cy="98361"/>
            </a:xfrm>
            <a:custGeom>
              <a:avLst/>
              <a:gdLst/>
              <a:ahLst/>
              <a:cxnLst/>
              <a:rect l="l" t="t" r="r" b="b"/>
              <a:pathLst>
                <a:path w="827188" h="98361">
                  <a:moveTo>
                    <a:pt x="41129" y="0"/>
                  </a:moveTo>
                  <a:lnTo>
                    <a:pt x="786059" y="0"/>
                  </a:lnTo>
                  <a:cubicBezTo>
                    <a:pt x="808774" y="0"/>
                    <a:pt x="827188" y="18414"/>
                    <a:pt x="827188" y="41129"/>
                  </a:cubicBezTo>
                  <a:lnTo>
                    <a:pt x="827188" y="57232"/>
                  </a:lnTo>
                  <a:cubicBezTo>
                    <a:pt x="827188" y="79947"/>
                    <a:pt x="808774" y="98361"/>
                    <a:pt x="786059" y="98361"/>
                  </a:cubicBezTo>
                  <a:lnTo>
                    <a:pt x="41129" y="98361"/>
                  </a:lnTo>
                  <a:cubicBezTo>
                    <a:pt x="18414" y="98361"/>
                    <a:pt x="0" y="79947"/>
                    <a:pt x="0" y="57232"/>
                  </a:cubicBezTo>
                  <a:lnTo>
                    <a:pt x="0" y="41129"/>
                  </a:lnTo>
                  <a:cubicBezTo>
                    <a:pt x="0" y="18414"/>
                    <a:pt x="18414" y="0"/>
                    <a:pt x="41129" y="0"/>
                  </a:cubicBezTo>
                  <a:close/>
                </a:path>
              </a:pathLst>
            </a:custGeom>
            <a:solidFill>
              <a:srgbClr val="92BE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827188" cy="145986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4382603" y="7269960"/>
            <a:ext cx="2331977" cy="596291"/>
            <a:chOff x="0" y="0"/>
            <a:chExt cx="1589350" cy="406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589350" cy="406400"/>
            </a:xfrm>
            <a:custGeom>
              <a:avLst/>
              <a:gdLst/>
              <a:ahLst/>
              <a:cxnLst/>
              <a:rect l="l" t="t" r="r" b="b"/>
              <a:pathLst>
                <a:path w="1589350" h="406400">
                  <a:moveTo>
                    <a:pt x="138615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86150" y="406400"/>
                  </a:lnTo>
                  <a:lnTo>
                    <a:pt x="1589350" y="203200"/>
                  </a:lnTo>
                  <a:lnTo>
                    <a:pt x="1386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2400" y="-47625"/>
              <a:ext cx="1284550" cy="454025"/>
            </a:xfrm>
            <a:prstGeom prst="rect">
              <a:avLst/>
            </a:prstGeom>
          </p:spPr>
          <p:txBody>
            <a:bodyPr lIns="45667" tIns="45667" rIns="45667" bIns="45667" rtlCol="0" anchor="ctr"/>
            <a:lstStyle/>
            <a:p>
              <a:pPr algn="ctr">
                <a:lnSpc>
                  <a:spcPts val="2768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2198094" y="7285354"/>
            <a:ext cx="1082629" cy="49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7"/>
              </a:lnSpc>
            </a:pPr>
            <a:r>
              <a:rPr lang="en-US" sz="2876" spc="120">
                <a:solidFill>
                  <a:srgbClr val="000000"/>
                </a:solidFill>
                <a:latin typeface="Andada Pro Bold"/>
              </a:rPr>
              <a:t>01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515899" y="5031932"/>
            <a:ext cx="2333777" cy="49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FFFFFF"/>
                </a:solidFill>
                <a:latin typeface="Andada Pro Semi-Bold"/>
              </a:rPr>
              <a:t>Input Layer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00390" y="7285354"/>
            <a:ext cx="1082629" cy="49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7"/>
              </a:lnSpc>
            </a:pPr>
            <a:r>
              <a:rPr lang="en-US" sz="2876" spc="120">
                <a:solidFill>
                  <a:srgbClr val="000000"/>
                </a:solidFill>
                <a:latin typeface="Andada Pro Bold"/>
              </a:rPr>
              <a:t>02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774816" y="4496303"/>
            <a:ext cx="2333777" cy="2111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FFFFFF"/>
                </a:solidFill>
                <a:latin typeface="Andada Pro Semi-Bold"/>
              </a:rPr>
              <a:t>Branch 1 – MobileNetV2 (Global Features)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602685" y="7285354"/>
            <a:ext cx="1082629" cy="49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7"/>
              </a:lnSpc>
            </a:pPr>
            <a:r>
              <a:rPr lang="en-US" sz="2876" spc="120">
                <a:solidFill>
                  <a:srgbClr val="000000"/>
                </a:solidFill>
                <a:latin typeface="Andada Pro Bold"/>
              </a:rPr>
              <a:t>03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804981" y="7285354"/>
            <a:ext cx="1082629" cy="49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7"/>
              </a:lnSpc>
            </a:pPr>
            <a:r>
              <a:rPr lang="en-US" sz="2876" spc="120" dirty="0">
                <a:solidFill>
                  <a:srgbClr val="000000"/>
                </a:solidFill>
                <a:latin typeface="Andada Pro Bold"/>
              </a:rPr>
              <a:t>04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5007276" y="7285354"/>
            <a:ext cx="1082629" cy="49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7"/>
              </a:lnSpc>
            </a:pPr>
            <a:r>
              <a:rPr lang="en-US" sz="2876" spc="120">
                <a:solidFill>
                  <a:srgbClr val="000000"/>
                </a:solidFill>
                <a:latin typeface="Andada Pro Bold"/>
              </a:rPr>
              <a:t>05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029240" y="4835971"/>
            <a:ext cx="2333777" cy="2111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FFFFFF"/>
                </a:solidFill>
                <a:latin typeface="Andada Pro Semi-Bold"/>
              </a:rPr>
              <a:t>Branch 2 – Custom CNN (Local Features)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180307" y="5031932"/>
            <a:ext cx="2333777" cy="103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FFFFFF"/>
                </a:solidFill>
                <a:latin typeface="Andada Pro Semi-Bold"/>
              </a:rPr>
              <a:t>Fusion Layer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4136812" y="5076825"/>
            <a:ext cx="2631332" cy="1034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FFFFFF"/>
                </a:solidFill>
                <a:latin typeface="Andada Pro Semi-Bold"/>
              </a:rPr>
              <a:t>Classification Head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011627" y="709979"/>
            <a:ext cx="10264747" cy="1699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sz="4899" spc="205" dirty="0">
                <a:solidFill>
                  <a:srgbClr val="000000"/>
                </a:solidFill>
                <a:latin typeface="Andada Pro Bold"/>
              </a:rPr>
              <a:t>Proposed Model: Hybrid </a:t>
            </a:r>
            <a:r>
              <a:rPr lang="en-US" sz="4899" spc="205" dirty="0" err="1">
                <a:solidFill>
                  <a:srgbClr val="000000"/>
                </a:solidFill>
                <a:latin typeface="Andada Pro Bold"/>
              </a:rPr>
              <a:t>MobileNet</a:t>
            </a:r>
            <a:r>
              <a:rPr lang="en-US" sz="4899" spc="205" dirty="0">
                <a:solidFill>
                  <a:srgbClr val="000000"/>
                </a:solidFill>
                <a:latin typeface="Andada Pro Bold"/>
              </a:rPr>
              <a:t>–CNN Architecture</a:t>
            </a:r>
          </a:p>
        </p:txBody>
      </p:sp>
      <p:grpSp>
        <p:nvGrpSpPr>
          <p:cNvPr id="65" name="Group 65"/>
          <p:cNvGrpSpPr>
            <a:grpSpLocks noChangeAspect="1"/>
          </p:cNvGrpSpPr>
          <p:nvPr/>
        </p:nvGrpSpPr>
        <p:grpSpPr>
          <a:xfrm>
            <a:off x="8332549" y="2823895"/>
            <a:ext cx="1622901" cy="1622901"/>
            <a:chOff x="0" y="0"/>
            <a:chExt cx="495300" cy="4953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40878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>
            <a:grpSpLocks noChangeAspect="1"/>
          </p:cNvGrpSpPr>
          <p:nvPr/>
        </p:nvGrpSpPr>
        <p:grpSpPr>
          <a:xfrm>
            <a:off x="11534845" y="2823895"/>
            <a:ext cx="1622901" cy="1622901"/>
            <a:chOff x="0" y="0"/>
            <a:chExt cx="495300" cy="4953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639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" name="Group 71"/>
          <p:cNvGrpSpPr>
            <a:grpSpLocks noChangeAspect="1"/>
          </p:cNvGrpSpPr>
          <p:nvPr/>
        </p:nvGrpSpPr>
        <p:grpSpPr>
          <a:xfrm>
            <a:off x="14737141" y="2823895"/>
            <a:ext cx="1622901" cy="1622901"/>
            <a:chOff x="0" y="0"/>
            <a:chExt cx="495300" cy="4953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92BE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3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" name="Freeform 74"/>
          <p:cNvSpPr/>
          <p:nvPr/>
        </p:nvSpPr>
        <p:spPr>
          <a:xfrm>
            <a:off x="2456380" y="3406800"/>
            <a:ext cx="566057" cy="457091"/>
          </a:xfrm>
          <a:custGeom>
            <a:avLst/>
            <a:gdLst/>
            <a:ahLst/>
            <a:cxnLst/>
            <a:rect l="l" t="t" r="r" b="b"/>
            <a:pathLst>
              <a:path w="566057" h="457091">
                <a:moveTo>
                  <a:pt x="0" y="0"/>
                </a:moveTo>
                <a:lnTo>
                  <a:pt x="566057" y="0"/>
                </a:lnTo>
                <a:lnTo>
                  <a:pt x="566057" y="457091"/>
                </a:lnTo>
                <a:lnTo>
                  <a:pt x="0" y="457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5" name="Freeform 75"/>
          <p:cNvSpPr/>
          <p:nvPr/>
        </p:nvSpPr>
        <p:spPr>
          <a:xfrm>
            <a:off x="5660520" y="3343205"/>
            <a:ext cx="562370" cy="584280"/>
          </a:xfrm>
          <a:custGeom>
            <a:avLst/>
            <a:gdLst/>
            <a:ahLst/>
            <a:cxnLst/>
            <a:rect l="l" t="t" r="r" b="b"/>
            <a:pathLst>
              <a:path w="562370" h="584280">
                <a:moveTo>
                  <a:pt x="0" y="0"/>
                </a:moveTo>
                <a:lnTo>
                  <a:pt x="562369" y="0"/>
                </a:lnTo>
                <a:lnTo>
                  <a:pt x="562369" y="584280"/>
                </a:lnTo>
                <a:lnTo>
                  <a:pt x="0" y="584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6" name="Freeform 76"/>
          <p:cNvSpPr/>
          <p:nvPr/>
        </p:nvSpPr>
        <p:spPr>
          <a:xfrm>
            <a:off x="15297727" y="3384481"/>
            <a:ext cx="501729" cy="501729"/>
          </a:xfrm>
          <a:custGeom>
            <a:avLst/>
            <a:gdLst/>
            <a:ahLst/>
            <a:cxnLst/>
            <a:rect l="l" t="t" r="r" b="b"/>
            <a:pathLst>
              <a:path w="501729" h="501729">
                <a:moveTo>
                  <a:pt x="0" y="0"/>
                </a:moveTo>
                <a:lnTo>
                  <a:pt x="501729" y="0"/>
                </a:lnTo>
                <a:lnTo>
                  <a:pt x="501729" y="501729"/>
                </a:lnTo>
                <a:lnTo>
                  <a:pt x="0" y="5017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7" name="Freeform 77"/>
          <p:cNvSpPr/>
          <p:nvPr/>
        </p:nvSpPr>
        <p:spPr>
          <a:xfrm>
            <a:off x="12063787" y="3352837"/>
            <a:ext cx="565017" cy="565017"/>
          </a:xfrm>
          <a:custGeom>
            <a:avLst/>
            <a:gdLst/>
            <a:ahLst/>
            <a:cxnLst/>
            <a:rect l="l" t="t" r="r" b="b"/>
            <a:pathLst>
              <a:path w="565017" h="565017">
                <a:moveTo>
                  <a:pt x="0" y="0"/>
                </a:moveTo>
                <a:lnTo>
                  <a:pt x="565017" y="0"/>
                </a:lnTo>
                <a:lnTo>
                  <a:pt x="565017" y="565017"/>
                </a:lnTo>
                <a:lnTo>
                  <a:pt x="0" y="565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8" name="Freeform 78"/>
          <p:cNvSpPr/>
          <p:nvPr/>
        </p:nvSpPr>
        <p:spPr>
          <a:xfrm>
            <a:off x="8901460" y="3392805"/>
            <a:ext cx="485080" cy="485080"/>
          </a:xfrm>
          <a:custGeom>
            <a:avLst/>
            <a:gdLst/>
            <a:ahLst/>
            <a:cxnLst/>
            <a:rect l="l" t="t" r="r" b="b"/>
            <a:pathLst>
              <a:path w="485080" h="485080">
                <a:moveTo>
                  <a:pt x="0" y="0"/>
                </a:moveTo>
                <a:lnTo>
                  <a:pt x="485080" y="0"/>
                </a:lnTo>
                <a:lnTo>
                  <a:pt x="485080" y="485080"/>
                </a:lnTo>
                <a:lnTo>
                  <a:pt x="0" y="4850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911590" y="942975"/>
            <a:ext cx="1293801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4800" dirty="0">
                <a:solidFill>
                  <a:srgbClr val="000000"/>
                </a:solidFill>
                <a:latin typeface="Andada Pro Bold"/>
              </a:rPr>
              <a:t> </a:t>
            </a:r>
            <a:r>
              <a:rPr lang="en-US" sz="4800" dirty="0">
                <a:latin typeface="Andada Pro Bold" panose="020B0604020202020204" charset="0"/>
              </a:rPr>
              <a:t>Result: Experimental Results &amp; Comparison</a:t>
            </a:r>
          </a:p>
          <a:p>
            <a:pPr algn="ctr">
              <a:lnSpc>
                <a:spcPts val="5599"/>
              </a:lnSpc>
            </a:pPr>
            <a:r>
              <a:rPr lang="en-US" sz="4800" dirty="0">
                <a:solidFill>
                  <a:srgbClr val="000000"/>
                </a:solidFill>
                <a:latin typeface="Andada Pro Bold"/>
              </a:rPr>
              <a:t> </a:t>
            </a:r>
          </a:p>
          <a:p>
            <a:pPr algn="ctr">
              <a:lnSpc>
                <a:spcPts val="5599"/>
              </a:lnSpc>
            </a:pPr>
            <a:endParaRPr lang="en-US" sz="4800" dirty="0">
              <a:solidFill>
                <a:srgbClr val="000000"/>
              </a:solidFill>
              <a:latin typeface="Andada Pro Bold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6E2E1FD-6C41-1537-A303-E5671C57D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45810"/>
              </p:ext>
            </p:extLst>
          </p:nvPr>
        </p:nvGraphicFramePr>
        <p:xfrm>
          <a:off x="1981200" y="3695701"/>
          <a:ext cx="15392400" cy="546371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3847275">
                  <a:extLst>
                    <a:ext uri="{9D8B030D-6E8A-4147-A177-3AD203B41FA5}">
                      <a16:colId xmlns:a16="http://schemas.microsoft.com/office/drawing/2014/main" val="2068741587"/>
                    </a:ext>
                  </a:extLst>
                </a:gridCol>
                <a:gridCol w="3847275">
                  <a:extLst>
                    <a:ext uri="{9D8B030D-6E8A-4147-A177-3AD203B41FA5}">
                      <a16:colId xmlns:a16="http://schemas.microsoft.com/office/drawing/2014/main" val="1920558386"/>
                    </a:ext>
                  </a:extLst>
                </a:gridCol>
                <a:gridCol w="3848925">
                  <a:extLst>
                    <a:ext uri="{9D8B030D-6E8A-4147-A177-3AD203B41FA5}">
                      <a16:colId xmlns:a16="http://schemas.microsoft.com/office/drawing/2014/main" val="3787011245"/>
                    </a:ext>
                  </a:extLst>
                </a:gridCol>
                <a:gridCol w="3848925">
                  <a:extLst>
                    <a:ext uri="{9D8B030D-6E8A-4147-A177-3AD203B41FA5}">
                      <a16:colId xmlns:a16="http://schemas.microsoft.com/office/drawing/2014/main" val="4168312880"/>
                    </a:ext>
                  </a:extLst>
                </a:gridCol>
              </a:tblGrid>
              <a:tr h="6095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kern="100" dirty="0">
                          <a:effectLst/>
                        </a:rPr>
                        <a:t>Model</a:t>
                      </a:r>
                      <a:endParaRPr lang="en-US" sz="40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kern="100" dirty="0">
                          <a:effectLst/>
                        </a:rPr>
                        <a:t>Training Accuracy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4000" kern="100" dirty="0">
                          <a:effectLst/>
                        </a:rPr>
                        <a:t>(%)</a:t>
                      </a:r>
                      <a:endParaRPr lang="en-US" sz="4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Validation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Accuracy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(%)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Testing Accuracy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(%)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5459525"/>
                  </a:ext>
                </a:extLst>
              </a:tr>
              <a:tr h="8213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</a:rPr>
                        <a:t>CNN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  <a:ea typeface="Aptos" panose="020B0004020202020204" pitchFamily="34" charset="0"/>
                          <a:cs typeface="Vrinda" panose="020B0502040204020203" pitchFamily="34" charset="0"/>
                        </a:rPr>
                        <a:t>71.70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  <a:ea typeface="Aptos" panose="020B0004020202020204" pitchFamily="34" charset="0"/>
                          <a:cs typeface="Vrinda" panose="020B0502040204020203" pitchFamily="34" charset="0"/>
                        </a:rPr>
                        <a:t>86.42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88.62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8223472"/>
                  </a:ext>
                </a:extLst>
              </a:tr>
              <a:tr h="8213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</a:rPr>
                        <a:t>MobileNetV2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  <a:ea typeface="Aptos" panose="020B0004020202020204" pitchFamily="34" charset="0"/>
                          <a:cs typeface="Vrinda" panose="020B0502040204020203" pitchFamily="34" charset="0"/>
                        </a:rPr>
                        <a:t>89.71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  <a:ea typeface="Aptos" panose="020B0004020202020204" pitchFamily="34" charset="0"/>
                          <a:cs typeface="Vrinda" panose="020B0502040204020203" pitchFamily="34" charset="0"/>
                        </a:rPr>
                        <a:t>94.20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94.60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0634168"/>
                  </a:ext>
                </a:extLst>
              </a:tr>
              <a:tr h="6104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  <a:cs typeface="Times New Roman" panose="02020603050405020304" pitchFamily="18" charset="0"/>
                        </a:rPr>
                        <a:t>InceptionV3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  <a:ea typeface="Aptos" panose="020B0004020202020204" pitchFamily="34" charset="0"/>
                          <a:cs typeface="Vrinda" panose="020B0502040204020203" pitchFamily="34" charset="0"/>
                        </a:rPr>
                        <a:t>82.81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  <a:ea typeface="Aptos" panose="020B0004020202020204" pitchFamily="34" charset="0"/>
                          <a:cs typeface="Vrinda" panose="020B0502040204020203" pitchFamily="34" charset="0"/>
                        </a:rPr>
                        <a:t>90.80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91.55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3883509"/>
                  </a:ext>
                </a:extLst>
              </a:tr>
              <a:tr h="10309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Proposed Hybrid</a:t>
                      </a:r>
                      <a:r>
                        <a:rPr lang="en-US" sz="1200" kern="100" dirty="0">
                          <a:effectLst/>
                          <a:latin typeface="Andada Pro Bold" panose="020B0604020202020204" charset="0"/>
                        </a:rPr>
                        <a:t> </a:t>
                      </a: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CNN-MobileNetV2</a:t>
                      </a:r>
                      <a:r>
                        <a:rPr lang="en-US" sz="1200" kern="100" dirty="0">
                          <a:effectLst/>
                        </a:rPr>
                        <a:t>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b="1" kern="100" dirty="0">
                          <a:effectLst/>
                          <a:latin typeface="Andada Pro Bold" panose="020B0604020202020204" charset="0"/>
                        </a:rPr>
                        <a:t>99.28</a:t>
                      </a:r>
                      <a:endParaRPr lang="en-US" sz="3600" b="1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99.70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99.88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2276734"/>
                  </a:ext>
                </a:extLst>
              </a:tr>
            </a:tbl>
          </a:graphicData>
        </a:graphic>
      </p:graphicFrame>
      <p:sp>
        <p:nvSpPr>
          <p:cNvPr id="26" name="Rectangle 1">
            <a:extLst>
              <a:ext uri="{FF2B5EF4-FFF2-40B4-BE49-F238E27FC236}">
                <a16:creationId xmlns:a16="http://schemas.microsoft.com/office/drawing/2014/main" id="{858203FA-C9FD-4868-ADF4-9B49D000A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628492"/>
            <a:ext cx="153924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da Pro Bold" panose="020B0604020202020204" charset="0"/>
                <a:ea typeface="Aptos" panose="020B0004020202020204" pitchFamily="34" charset="0"/>
                <a:cs typeface="Vrinda" panose="020B0502040204020203" pitchFamily="34" charset="0"/>
              </a:rPr>
              <a:t>Table 2: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da Pro Bold" panose="020B0604020202020204" charset="0"/>
                <a:ea typeface="Aptos" panose="020B0004020202020204" pitchFamily="34" charset="0"/>
                <a:cs typeface="Vrinda" panose="020B0502040204020203" pitchFamily="34" charset="0"/>
              </a:rPr>
              <a:t> Precision, Recall, and F1-Score Comparison of Different Models on the Bangladeshi Traffic Sign Dataset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da Pro Bold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99089" y="1124218"/>
            <a:ext cx="988982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5400" spc="193" dirty="0">
                <a:solidFill>
                  <a:srgbClr val="000000"/>
                </a:solidFill>
                <a:latin typeface="Andada Pro Bold"/>
              </a:rPr>
              <a:t>Evaluation Metrics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546000" y="5067387"/>
            <a:ext cx="2908315" cy="3258813"/>
            <a:chOff x="0" y="0"/>
            <a:chExt cx="855709" cy="9588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55709" cy="958835"/>
            </a:xfrm>
            <a:custGeom>
              <a:avLst/>
              <a:gdLst/>
              <a:ahLst/>
              <a:cxnLst/>
              <a:rect l="l" t="t" r="r" b="b"/>
              <a:pathLst>
                <a:path w="855709" h="958835">
                  <a:moveTo>
                    <a:pt x="53240" y="0"/>
                  </a:moveTo>
                  <a:lnTo>
                    <a:pt x="802469" y="0"/>
                  </a:lnTo>
                  <a:cubicBezTo>
                    <a:pt x="831872" y="0"/>
                    <a:pt x="855709" y="23836"/>
                    <a:pt x="855709" y="53240"/>
                  </a:cubicBezTo>
                  <a:lnTo>
                    <a:pt x="855709" y="905595"/>
                  </a:lnTo>
                  <a:cubicBezTo>
                    <a:pt x="855709" y="934999"/>
                    <a:pt x="831872" y="958835"/>
                    <a:pt x="802469" y="958835"/>
                  </a:cubicBezTo>
                  <a:lnTo>
                    <a:pt x="53240" y="958835"/>
                  </a:lnTo>
                  <a:cubicBezTo>
                    <a:pt x="23836" y="958835"/>
                    <a:pt x="0" y="934999"/>
                    <a:pt x="0" y="905595"/>
                  </a:cubicBezTo>
                  <a:lnTo>
                    <a:pt x="0" y="53240"/>
                  </a:lnTo>
                  <a:cubicBezTo>
                    <a:pt x="0" y="23836"/>
                    <a:pt x="23836" y="0"/>
                    <a:pt x="53240" y="0"/>
                  </a:cubicBezTo>
                  <a:close/>
                </a:path>
              </a:pathLst>
            </a:custGeom>
            <a:solidFill>
              <a:srgbClr val="639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55709" cy="1006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4513637" y="4468198"/>
            <a:ext cx="1198378" cy="119837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9207" y="0"/>
                  </a:moveTo>
                  <a:lnTo>
                    <a:pt x="683593" y="0"/>
                  </a:lnTo>
                  <a:cubicBezTo>
                    <a:pt x="717861" y="0"/>
                    <a:pt x="750725" y="13613"/>
                    <a:pt x="774956" y="37844"/>
                  </a:cubicBezTo>
                  <a:cubicBezTo>
                    <a:pt x="799187" y="62075"/>
                    <a:pt x="812800" y="94939"/>
                    <a:pt x="812800" y="129207"/>
                  </a:cubicBezTo>
                  <a:lnTo>
                    <a:pt x="812800" y="683593"/>
                  </a:lnTo>
                  <a:cubicBezTo>
                    <a:pt x="812800" y="717861"/>
                    <a:pt x="799187" y="750725"/>
                    <a:pt x="774956" y="774956"/>
                  </a:cubicBezTo>
                  <a:cubicBezTo>
                    <a:pt x="750725" y="799187"/>
                    <a:pt x="717861" y="812800"/>
                    <a:pt x="683593" y="812800"/>
                  </a:cubicBezTo>
                  <a:lnTo>
                    <a:pt x="129207" y="812800"/>
                  </a:lnTo>
                  <a:cubicBezTo>
                    <a:pt x="94939" y="812800"/>
                    <a:pt x="62075" y="799187"/>
                    <a:pt x="37844" y="774956"/>
                  </a:cubicBezTo>
                  <a:cubicBezTo>
                    <a:pt x="13613" y="750725"/>
                    <a:pt x="0" y="717861"/>
                    <a:pt x="0" y="683593"/>
                  </a:cubicBezTo>
                  <a:lnTo>
                    <a:pt x="0" y="129207"/>
                  </a:lnTo>
                  <a:cubicBezTo>
                    <a:pt x="0" y="94939"/>
                    <a:pt x="13613" y="62075"/>
                    <a:pt x="37844" y="37844"/>
                  </a:cubicBezTo>
                  <a:cubicBezTo>
                    <a:pt x="62075" y="13613"/>
                    <a:pt x="94939" y="0"/>
                    <a:pt x="129207" y="0"/>
                  </a:cubicBezTo>
                  <a:close/>
                </a:path>
              </a:pathLst>
            </a:custGeom>
            <a:solidFill>
              <a:srgbClr val="639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700000">
            <a:off x="4630460" y="4585021"/>
            <a:ext cx="964732" cy="96473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60499" y="0"/>
                  </a:moveTo>
                  <a:lnTo>
                    <a:pt x="652301" y="0"/>
                  </a:lnTo>
                  <a:cubicBezTo>
                    <a:pt x="740942" y="0"/>
                    <a:pt x="812800" y="71858"/>
                    <a:pt x="812800" y="160499"/>
                  </a:cubicBezTo>
                  <a:lnTo>
                    <a:pt x="812800" y="652301"/>
                  </a:lnTo>
                  <a:cubicBezTo>
                    <a:pt x="812800" y="740942"/>
                    <a:pt x="740942" y="812800"/>
                    <a:pt x="652301" y="812800"/>
                  </a:cubicBezTo>
                  <a:lnTo>
                    <a:pt x="160499" y="812800"/>
                  </a:lnTo>
                  <a:cubicBezTo>
                    <a:pt x="71858" y="812800"/>
                    <a:pt x="0" y="740942"/>
                    <a:pt x="0" y="652301"/>
                  </a:cubicBezTo>
                  <a:lnTo>
                    <a:pt x="0" y="160499"/>
                  </a:lnTo>
                  <a:cubicBezTo>
                    <a:pt x="0" y="71858"/>
                    <a:pt x="71858" y="0"/>
                    <a:pt x="16049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7130" y="5067387"/>
            <a:ext cx="2908315" cy="3258813"/>
            <a:chOff x="0" y="0"/>
            <a:chExt cx="855709" cy="9588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5709" cy="958835"/>
            </a:xfrm>
            <a:custGeom>
              <a:avLst/>
              <a:gdLst/>
              <a:ahLst/>
              <a:cxnLst/>
              <a:rect l="l" t="t" r="r" b="b"/>
              <a:pathLst>
                <a:path w="855709" h="958835">
                  <a:moveTo>
                    <a:pt x="53240" y="0"/>
                  </a:moveTo>
                  <a:lnTo>
                    <a:pt x="802469" y="0"/>
                  </a:lnTo>
                  <a:cubicBezTo>
                    <a:pt x="831872" y="0"/>
                    <a:pt x="855709" y="23836"/>
                    <a:pt x="855709" y="53240"/>
                  </a:cubicBezTo>
                  <a:lnTo>
                    <a:pt x="855709" y="905595"/>
                  </a:lnTo>
                  <a:cubicBezTo>
                    <a:pt x="855709" y="934999"/>
                    <a:pt x="831872" y="958835"/>
                    <a:pt x="802469" y="958835"/>
                  </a:cubicBezTo>
                  <a:lnTo>
                    <a:pt x="53240" y="958835"/>
                  </a:lnTo>
                  <a:cubicBezTo>
                    <a:pt x="23836" y="958835"/>
                    <a:pt x="0" y="934999"/>
                    <a:pt x="0" y="905595"/>
                  </a:cubicBezTo>
                  <a:lnTo>
                    <a:pt x="0" y="53240"/>
                  </a:lnTo>
                  <a:cubicBezTo>
                    <a:pt x="0" y="23836"/>
                    <a:pt x="23836" y="0"/>
                    <a:pt x="53240" y="0"/>
                  </a:cubicBezTo>
                  <a:close/>
                </a:path>
              </a:pathLst>
            </a:custGeom>
            <a:solidFill>
              <a:srgbClr val="3275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55709" cy="1006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2700000">
            <a:off x="1324767" y="4468198"/>
            <a:ext cx="1198378" cy="119837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9207" y="0"/>
                  </a:moveTo>
                  <a:lnTo>
                    <a:pt x="683593" y="0"/>
                  </a:lnTo>
                  <a:cubicBezTo>
                    <a:pt x="717861" y="0"/>
                    <a:pt x="750725" y="13613"/>
                    <a:pt x="774956" y="37844"/>
                  </a:cubicBezTo>
                  <a:cubicBezTo>
                    <a:pt x="799187" y="62075"/>
                    <a:pt x="812800" y="94939"/>
                    <a:pt x="812800" y="129207"/>
                  </a:cubicBezTo>
                  <a:lnTo>
                    <a:pt x="812800" y="683593"/>
                  </a:lnTo>
                  <a:cubicBezTo>
                    <a:pt x="812800" y="717861"/>
                    <a:pt x="799187" y="750725"/>
                    <a:pt x="774956" y="774956"/>
                  </a:cubicBezTo>
                  <a:cubicBezTo>
                    <a:pt x="750725" y="799187"/>
                    <a:pt x="717861" y="812800"/>
                    <a:pt x="683593" y="812800"/>
                  </a:cubicBezTo>
                  <a:lnTo>
                    <a:pt x="129207" y="812800"/>
                  </a:lnTo>
                  <a:cubicBezTo>
                    <a:pt x="94939" y="812800"/>
                    <a:pt x="62075" y="799187"/>
                    <a:pt x="37844" y="774956"/>
                  </a:cubicBezTo>
                  <a:cubicBezTo>
                    <a:pt x="13613" y="750725"/>
                    <a:pt x="0" y="717861"/>
                    <a:pt x="0" y="683593"/>
                  </a:cubicBezTo>
                  <a:lnTo>
                    <a:pt x="0" y="129207"/>
                  </a:lnTo>
                  <a:cubicBezTo>
                    <a:pt x="0" y="94939"/>
                    <a:pt x="13613" y="62075"/>
                    <a:pt x="37844" y="37844"/>
                  </a:cubicBezTo>
                  <a:cubicBezTo>
                    <a:pt x="62075" y="13613"/>
                    <a:pt x="94939" y="0"/>
                    <a:pt x="129207" y="0"/>
                  </a:cubicBezTo>
                  <a:close/>
                </a:path>
              </a:pathLst>
            </a:custGeom>
            <a:solidFill>
              <a:srgbClr val="3275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34870" y="5067387"/>
            <a:ext cx="2908315" cy="3258813"/>
            <a:chOff x="0" y="0"/>
            <a:chExt cx="855709" cy="9588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55709" cy="958835"/>
            </a:xfrm>
            <a:custGeom>
              <a:avLst/>
              <a:gdLst/>
              <a:ahLst/>
              <a:cxnLst/>
              <a:rect l="l" t="t" r="r" b="b"/>
              <a:pathLst>
                <a:path w="855709" h="958835">
                  <a:moveTo>
                    <a:pt x="53240" y="0"/>
                  </a:moveTo>
                  <a:lnTo>
                    <a:pt x="802469" y="0"/>
                  </a:lnTo>
                  <a:cubicBezTo>
                    <a:pt x="831872" y="0"/>
                    <a:pt x="855709" y="23836"/>
                    <a:pt x="855709" y="53240"/>
                  </a:cubicBezTo>
                  <a:lnTo>
                    <a:pt x="855709" y="905595"/>
                  </a:lnTo>
                  <a:cubicBezTo>
                    <a:pt x="855709" y="934999"/>
                    <a:pt x="831872" y="958835"/>
                    <a:pt x="802469" y="958835"/>
                  </a:cubicBezTo>
                  <a:lnTo>
                    <a:pt x="53240" y="958835"/>
                  </a:lnTo>
                  <a:cubicBezTo>
                    <a:pt x="23836" y="958835"/>
                    <a:pt x="0" y="934999"/>
                    <a:pt x="0" y="905595"/>
                  </a:cubicBezTo>
                  <a:lnTo>
                    <a:pt x="0" y="53240"/>
                  </a:lnTo>
                  <a:cubicBezTo>
                    <a:pt x="0" y="23836"/>
                    <a:pt x="23836" y="0"/>
                    <a:pt x="53240" y="0"/>
                  </a:cubicBezTo>
                  <a:close/>
                </a:path>
              </a:pathLst>
            </a:custGeom>
            <a:solidFill>
              <a:srgbClr val="235A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55709" cy="1006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2700000">
            <a:off x="7702507" y="4468198"/>
            <a:ext cx="1198378" cy="119837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9207" y="0"/>
                  </a:moveTo>
                  <a:lnTo>
                    <a:pt x="683593" y="0"/>
                  </a:lnTo>
                  <a:cubicBezTo>
                    <a:pt x="717861" y="0"/>
                    <a:pt x="750725" y="13613"/>
                    <a:pt x="774956" y="37844"/>
                  </a:cubicBezTo>
                  <a:cubicBezTo>
                    <a:pt x="799187" y="62075"/>
                    <a:pt x="812800" y="94939"/>
                    <a:pt x="812800" y="129207"/>
                  </a:cubicBezTo>
                  <a:lnTo>
                    <a:pt x="812800" y="683593"/>
                  </a:lnTo>
                  <a:cubicBezTo>
                    <a:pt x="812800" y="717861"/>
                    <a:pt x="799187" y="750725"/>
                    <a:pt x="774956" y="774956"/>
                  </a:cubicBezTo>
                  <a:cubicBezTo>
                    <a:pt x="750725" y="799187"/>
                    <a:pt x="717861" y="812800"/>
                    <a:pt x="683593" y="812800"/>
                  </a:cubicBezTo>
                  <a:lnTo>
                    <a:pt x="129207" y="812800"/>
                  </a:lnTo>
                  <a:cubicBezTo>
                    <a:pt x="94939" y="812800"/>
                    <a:pt x="62075" y="799187"/>
                    <a:pt x="37844" y="774956"/>
                  </a:cubicBezTo>
                  <a:cubicBezTo>
                    <a:pt x="13613" y="750725"/>
                    <a:pt x="0" y="717861"/>
                    <a:pt x="0" y="683593"/>
                  </a:cubicBezTo>
                  <a:lnTo>
                    <a:pt x="0" y="129207"/>
                  </a:lnTo>
                  <a:cubicBezTo>
                    <a:pt x="0" y="94939"/>
                    <a:pt x="13613" y="62075"/>
                    <a:pt x="37844" y="37844"/>
                  </a:cubicBezTo>
                  <a:cubicBezTo>
                    <a:pt x="62075" y="13613"/>
                    <a:pt x="94939" y="0"/>
                    <a:pt x="129207" y="0"/>
                  </a:cubicBezTo>
                  <a:close/>
                </a:path>
              </a:pathLst>
            </a:custGeom>
            <a:solidFill>
              <a:srgbClr val="235A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2700000">
            <a:off x="7819330" y="4585021"/>
            <a:ext cx="964732" cy="96473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60499" y="0"/>
                  </a:moveTo>
                  <a:lnTo>
                    <a:pt x="652301" y="0"/>
                  </a:lnTo>
                  <a:cubicBezTo>
                    <a:pt x="740942" y="0"/>
                    <a:pt x="812800" y="71858"/>
                    <a:pt x="812800" y="160499"/>
                  </a:cubicBezTo>
                  <a:lnTo>
                    <a:pt x="812800" y="652301"/>
                  </a:lnTo>
                  <a:cubicBezTo>
                    <a:pt x="812800" y="740942"/>
                    <a:pt x="740942" y="812800"/>
                    <a:pt x="652301" y="812800"/>
                  </a:cubicBezTo>
                  <a:lnTo>
                    <a:pt x="160499" y="812800"/>
                  </a:lnTo>
                  <a:cubicBezTo>
                    <a:pt x="71858" y="812800"/>
                    <a:pt x="0" y="740942"/>
                    <a:pt x="0" y="652301"/>
                  </a:cubicBezTo>
                  <a:lnTo>
                    <a:pt x="0" y="160499"/>
                  </a:lnTo>
                  <a:cubicBezTo>
                    <a:pt x="0" y="71858"/>
                    <a:pt x="71858" y="0"/>
                    <a:pt x="16049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923741" y="5067387"/>
            <a:ext cx="2908315" cy="3258813"/>
            <a:chOff x="0" y="0"/>
            <a:chExt cx="855709" cy="95883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55709" cy="958835"/>
            </a:xfrm>
            <a:custGeom>
              <a:avLst/>
              <a:gdLst/>
              <a:ahLst/>
              <a:cxnLst/>
              <a:rect l="l" t="t" r="r" b="b"/>
              <a:pathLst>
                <a:path w="855709" h="958835">
                  <a:moveTo>
                    <a:pt x="53240" y="0"/>
                  </a:moveTo>
                  <a:lnTo>
                    <a:pt x="802469" y="0"/>
                  </a:lnTo>
                  <a:cubicBezTo>
                    <a:pt x="831872" y="0"/>
                    <a:pt x="855709" y="23836"/>
                    <a:pt x="855709" y="53240"/>
                  </a:cubicBezTo>
                  <a:lnTo>
                    <a:pt x="855709" y="905595"/>
                  </a:lnTo>
                  <a:cubicBezTo>
                    <a:pt x="855709" y="934999"/>
                    <a:pt x="831872" y="958835"/>
                    <a:pt x="802469" y="958835"/>
                  </a:cubicBezTo>
                  <a:lnTo>
                    <a:pt x="53240" y="958835"/>
                  </a:lnTo>
                  <a:cubicBezTo>
                    <a:pt x="23836" y="958835"/>
                    <a:pt x="0" y="934999"/>
                    <a:pt x="0" y="905595"/>
                  </a:cubicBezTo>
                  <a:lnTo>
                    <a:pt x="0" y="53240"/>
                  </a:lnTo>
                  <a:cubicBezTo>
                    <a:pt x="0" y="23836"/>
                    <a:pt x="23836" y="0"/>
                    <a:pt x="53240" y="0"/>
                  </a:cubicBezTo>
                  <a:close/>
                </a:path>
              </a:pathLst>
            </a:custGeom>
            <a:solidFill>
              <a:srgbClr val="92BE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855709" cy="1006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2700000">
            <a:off x="10891377" y="4468198"/>
            <a:ext cx="1198378" cy="1198378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9207" y="0"/>
                  </a:moveTo>
                  <a:lnTo>
                    <a:pt x="683593" y="0"/>
                  </a:lnTo>
                  <a:cubicBezTo>
                    <a:pt x="717861" y="0"/>
                    <a:pt x="750725" y="13613"/>
                    <a:pt x="774956" y="37844"/>
                  </a:cubicBezTo>
                  <a:cubicBezTo>
                    <a:pt x="799187" y="62075"/>
                    <a:pt x="812800" y="94939"/>
                    <a:pt x="812800" y="129207"/>
                  </a:cubicBezTo>
                  <a:lnTo>
                    <a:pt x="812800" y="683593"/>
                  </a:lnTo>
                  <a:cubicBezTo>
                    <a:pt x="812800" y="717861"/>
                    <a:pt x="799187" y="750725"/>
                    <a:pt x="774956" y="774956"/>
                  </a:cubicBezTo>
                  <a:cubicBezTo>
                    <a:pt x="750725" y="799187"/>
                    <a:pt x="717861" y="812800"/>
                    <a:pt x="683593" y="812800"/>
                  </a:cubicBezTo>
                  <a:lnTo>
                    <a:pt x="129207" y="812800"/>
                  </a:lnTo>
                  <a:cubicBezTo>
                    <a:pt x="94939" y="812800"/>
                    <a:pt x="62075" y="799187"/>
                    <a:pt x="37844" y="774956"/>
                  </a:cubicBezTo>
                  <a:cubicBezTo>
                    <a:pt x="13613" y="750725"/>
                    <a:pt x="0" y="717861"/>
                    <a:pt x="0" y="683593"/>
                  </a:cubicBezTo>
                  <a:lnTo>
                    <a:pt x="0" y="129207"/>
                  </a:lnTo>
                  <a:cubicBezTo>
                    <a:pt x="0" y="94939"/>
                    <a:pt x="13613" y="62075"/>
                    <a:pt x="37844" y="37844"/>
                  </a:cubicBezTo>
                  <a:cubicBezTo>
                    <a:pt x="62075" y="13613"/>
                    <a:pt x="94939" y="0"/>
                    <a:pt x="129207" y="0"/>
                  </a:cubicBezTo>
                  <a:close/>
                </a:path>
              </a:pathLst>
            </a:custGeom>
            <a:solidFill>
              <a:srgbClr val="92BE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 rot="-2700000">
            <a:off x="11008200" y="4585021"/>
            <a:ext cx="964732" cy="964732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60499" y="0"/>
                  </a:moveTo>
                  <a:lnTo>
                    <a:pt x="652301" y="0"/>
                  </a:lnTo>
                  <a:cubicBezTo>
                    <a:pt x="740942" y="0"/>
                    <a:pt x="812800" y="71858"/>
                    <a:pt x="812800" y="160499"/>
                  </a:cubicBezTo>
                  <a:lnTo>
                    <a:pt x="812800" y="652301"/>
                  </a:lnTo>
                  <a:cubicBezTo>
                    <a:pt x="812800" y="740942"/>
                    <a:pt x="740942" y="812800"/>
                    <a:pt x="652301" y="812800"/>
                  </a:cubicBezTo>
                  <a:lnTo>
                    <a:pt x="160499" y="812800"/>
                  </a:lnTo>
                  <a:cubicBezTo>
                    <a:pt x="71858" y="812800"/>
                    <a:pt x="0" y="740942"/>
                    <a:pt x="0" y="652301"/>
                  </a:cubicBezTo>
                  <a:lnTo>
                    <a:pt x="0" y="160499"/>
                  </a:lnTo>
                  <a:cubicBezTo>
                    <a:pt x="0" y="71858"/>
                    <a:pt x="71858" y="0"/>
                    <a:pt x="16049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112612" y="5099149"/>
            <a:ext cx="2908315" cy="3258813"/>
            <a:chOff x="0" y="0"/>
            <a:chExt cx="855709" cy="95883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55709" cy="958835"/>
            </a:xfrm>
            <a:custGeom>
              <a:avLst/>
              <a:gdLst/>
              <a:ahLst/>
              <a:cxnLst/>
              <a:rect l="l" t="t" r="r" b="b"/>
              <a:pathLst>
                <a:path w="855709" h="958835">
                  <a:moveTo>
                    <a:pt x="53240" y="0"/>
                  </a:moveTo>
                  <a:lnTo>
                    <a:pt x="802469" y="0"/>
                  </a:lnTo>
                  <a:cubicBezTo>
                    <a:pt x="831872" y="0"/>
                    <a:pt x="855709" y="23836"/>
                    <a:pt x="855709" y="53240"/>
                  </a:cubicBezTo>
                  <a:lnTo>
                    <a:pt x="855709" y="905595"/>
                  </a:lnTo>
                  <a:cubicBezTo>
                    <a:pt x="855709" y="934999"/>
                    <a:pt x="831872" y="958835"/>
                    <a:pt x="802469" y="958835"/>
                  </a:cubicBezTo>
                  <a:lnTo>
                    <a:pt x="53240" y="958835"/>
                  </a:lnTo>
                  <a:cubicBezTo>
                    <a:pt x="23836" y="958835"/>
                    <a:pt x="0" y="934999"/>
                    <a:pt x="0" y="905595"/>
                  </a:cubicBezTo>
                  <a:lnTo>
                    <a:pt x="0" y="53240"/>
                  </a:lnTo>
                  <a:cubicBezTo>
                    <a:pt x="0" y="23836"/>
                    <a:pt x="23836" y="0"/>
                    <a:pt x="53240" y="0"/>
                  </a:cubicBezTo>
                  <a:close/>
                </a:path>
              </a:pathLst>
            </a:custGeom>
            <a:solidFill>
              <a:srgbClr val="40878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855709" cy="1006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 rot="-2700000">
            <a:off x="14080247" y="4468198"/>
            <a:ext cx="1198378" cy="1198378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9207" y="0"/>
                  </a:moveTo>
                  <a:lnTo>
                    <a:pt x="683593" y="0"/>
                  </a:lnTo>
                  <a:cubicBezTo>
                    <a:pt x="717861" y="0"/>
                    <a:pt x="750725" y="13613"/>
                    <a:pt x="774956" y="37844"/>
                  </a:cubicBezTo>
                  <a:cubicBezTo>
                    <a:pt x="799187" y="62075"/>
                    <a:pt x="812800" y="94939"/>
                    <a:pt x="812800" y="129207"/>
                  </a:cubicBezTo>
                  <a:lnTo>
                    <a:pt x="812800" y="683593"/>
                  </a:lnTo>
                  <a:cubicBezTo>
                    <a:pt x="812800" y="717861"/>
                    <a:pt x="799187" y="750725"/>
                    <a:pt x="774956" y="774956"/>
                  </a:cubicBezTo>
                  <a:cubicBezTo>
                    <a:pt x="750725" y="799187"/>
                    <a:pt x="717861" y="812800"/>
                    <a:pt x="683593" y="812800"/>
                  </a:cubicBezTo>
                  <a:lnTo>
                    <a:pt x="129207" y="812800"/>
                  </a:lnTo>
                  <a:cubicBezTo>
                    <a:pt x="94939" y="812800"/>
                    <a:pt x="62075" y="799187"/>
                    <a:pt x="37844" y="774956"/>
                  </a:cubicBezTo>
                  <a:cubicBezTo>
                    <a:pt x="13613" y="750725"/>
                    <a:pt x="0" y="717861"/>
                    <a:pt x="0" y="683593"/>
                  </a:cubicBezTo>
                  <a:lnTo>
                    <a:pt x="0" y="129207"/>
                  </a:lnTo>
                  <a:cubicBezTo>
                    <a:pt x="0" y="94939"/>
                    <a:pt x="13613" y="62075"/>
                    <a:pt x="37844" y="37844"/>
                  </a:cubicBezTo>
                  <a:cubicBezTo>
                    <a:pt x="62075" y="13613"/>
                    <a:pt x="94939" y="0"/>
                    <a:pt x="129207" y="0"/>
                  </a:cubicBezTo>
                  <a:close/>
                </a:path>
              </a:pathLst>
            </a:custGeom>
            <a:solidFill>
              <a:srgbClr val="3275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 rot="-2700000">
            <a:off x="14197070" y="4585021"/>
            <a:ext cx="964732" cy="964732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60499" y="0"/>
                  </a:moveTo>
                  <a:lnTo>
                    <a:pt x="652301" y="0"/>
                  </a:lnTo>
                  <a:cubicBezTo>
                    <a:pt x="740942" y="0"/>
                    <a:pt x="812800" y="71858"/>
                    <a:pt x="812800" y="160499"/>
                  </a:cubicBezTo>
                  <a:lnTo>
                    <a:pt x="812800" y="652301"/>
                  </a:lnTo>
                  <a:cubicBezTo>
                    <a:pt x="812800" y="740942"/>
                    <a:pt x="740942" y="812800"/>
                    <a:pt x="652301" y="812800"/>
                  </a:cubicBezTo>
                  <a:lnTo>
                    <a:pt x="160499" y="812800"/>
                  </a:lnTo>
                  <a:cubicBezTo>
                    <a:pt x="71858" y="812800"/>
                    <a:pt x="0" y="740942"/>
                    <a:pt x="0" y="652301"/>
                  </a:cubicBezTo>
                  <a:lnTo>
                    <a:pt x="0" y="160499"/>
                  </a:lnTo>
                  <a:cubicBezTo>
                    <a:pt x="0" y="71858"/>
                    <a:pt x="71858" y="0"/>
                    <a:pt x="16049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 rot="-2700000">
            <a:off x="1441590" y="4585021"/>
            <a:ext cx="964732" cy="964732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60499" y="0"/>
                  </a:moveTo>
                  <a:lnTo>
                    <a:pt x="652301" y="0"/>
                  </a:lnTo>
                  <a:cubicBezTo>
                    <a:pt x="740942" y="0"/>
                    <a:pt x="812800" y="71858"/>
                    <a:pt x="812800" y="160499"/>
                  </a:cubicBezTo>
                  <a:lnTo>
                    <a:pt x="812800" y="652301"/>
                  </a:lnTo>
                  <a:cubicBezTo>
                    <a:pt x="812800" y="740942"/>
                    <a:pt x="740942" y="812800"/>
                    <a:pt x="652301" y="812800"/>
                  </a:cubicBezTo>
                  <a:lnTo>
                    <a:pt x="160499" y="812800"/>
                  </a:lnTo>
                  <a:cubicBezTo>
                    <a:pt x="71858" y="812800"/>
                    <a:pt x="0" y="740942"/>
                    <a:pt x="0" y="652301"/>
                  </a:cubicBezTo>
                  <a:lnTo>
                    <a:pt x="0" y="160499"/>
                  </a:lnTo>
                  <a:cubicBezTo>
                    <a:pt x="0" y="71858"/>
                    <a:pt x="71858" y="0"/>
                    <a:pt x="16049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8" name="AutoShape 48"/>
          <p:cNvSpPr/>
          <p:nvPr/>
        </p:nvSpPr>
        <p:spPr>
          <a:xfrm>
            <a:off x="2850619" y="3920070"/>
            <a:ext cx="12675272" cy="0"/>
          </a:xfrm>
          <a:prstGeom prst="line">
            <a:avLst/>
          </a:prstGeom>
          <a:ln w="38100" cap="flat">
            <a:solidFill>
              <a:srgbClr val="B2B2B2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9" name="Group 49"/>
          <p:cNvGrpSpPr/>
          <p:nvPr/>
        </p:nvGrpSpPr>
        <p:grpSpPr>
          <a:xfrm rot="-2700000">
            <a:off x="2348926" y="3518975"/>
            <a:ext cx="844821" cy="844821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3279" y="0"/>
                  </a:moveTo>
                  <a:lnTo>
                    <a:pt x="629521" y="0"/>
                  </a:lnTo>
                  <a:cubicBezTo>
                    <a:pt x="730743" y="0"/>
                    <a:pt x="812800" y="82057"/>
                    <a:pt x="812800" y="183279"/>
                  </a:cubicBezTo>
                  <a:lnTo>
                    <a:pt x="812800" y="629521"/>
                  </a:lnTo>
                  <a:cubicBezTo>
                    <a:pt x="812800" y="730743"/>
                    <a:pt x="730743" y="812800"/>
                    <a:pt x="629521" y="812800"/>
                  </a:cubicBezTo>
                  <a:lnTo>
                    <a:pt x="183279" y="812800"/>
                  </a:lnTo>
                  <a:cubicBezTo>
                    <a:pt x="82057" y="812800"/>
                    <a:pt x="0" y="730743"/>
                    <a:pt x="0" y="629521"/>
                  </a:cubicBezTo>
                  <a:lnTo>
                    <a:pt x="0" y="183279"/>
                  </a:lnTo>
                  <a:cubicBezTo>
                    <a:pt x="0" y="82057"/>
                    <a:pt x="82057" y="0"/>
                    <a:pt x="183279" y="0"/>
                  </a:cubicBezTo>
                  <a:close/>
                </a:path>
              </a:pathLst>
            </a:custGeom>
            <a:solidFill>
              <a:srgbClr val="3275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 rot="-2700000">
            <a:off x="5577361" y="3518975"/>
            <a:ext cx="844821" cy="844821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3279" y="0"/>
                  </a:moveTo>
                  <a:lnTo>
                    <a:pt x="629521" y="0"/>
                  </a:lnTo>
                  <a:cubicBezTo>
                    <a:pt x="730743" y="0"/>
                    <a:pt x="812800" y="82057"/>
                    <a:pt x="812800" y="183279"/>
                  </a:cubicBezTo>
                  <a:lnTo>
                    <a:pt x="812800" y="629521"/>
                  </a:lnTo>
                  <a:cubicBezTo>
                    <a:pt x="812800" y="730743"/>
                    <a:pt x="730743" y="812800"/>
                    <a:pt x="629521" y="812800"/>
                  </a:cubicBezTo>
                  <a:lnTo>
                    <a:pt x="183279" y="812800"/>
                  </a:lnTo>
                  <a:cubicBezTo>
                    <a:pt x="82057" y="812800"/>
                    <a:pt x="0" y="730743"/>
                    <a:pt x="0" y="629521"/>
                  </a:cubicBezTo>
                  <a:lnTo>
                    <a:pt x="0" y="183279"/>
                  </a:lnTo>
                  <a:cubicBezTo>
                    <a:pt x="0" y="82057"/>
                    <a:pt x="82057" y="0"/>
                    <a:pt x="183279" y="0"/>
                  </a:cubicBezTo>
                  <a:close/>
                </a:path>
              </a:pathLst>
            </a:custGeom>
            <a:solidFill>
              <a:srgbClr val="639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 rot="-2700000">
            <a:off x="8829302" y="3393211"/>
            <a:ext cx="1124935" cy="1027335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3279" y="0"/>
                  </a:moveTo>
                  <a:lnTo>
                    <a:pt x="629521" y="0"/>
                  </a:lnTo>
                  <a:cubicBezTo>
                    <a:pt x="730743" y="0"/>
                    <a:pt x="812800" y="82057"/>
                    <a:pt x="812800" y="183279"/>
                  </a:cubicBezTo>
                  <a:lnTo>
                    <a:pt x="812800" y="629521"/>
                  </a:lnTo>
                  <a:cubicBezTo>
                    <a:pt x="812800" y="730743"/>
                    <a:pt x="730743" y="812800"/>
                    <a:pt x="629521" y="812800"/>
                  </a:cubicBezTo>
                  <a:lnTo>
                    <a:pt x="183279" y="812800"/>
                  </a:lnTo>
                  <a:cubicBezTo>
                    <a:pt x="82057" y="812800"/>
                    <a:pt x="0" y="730743"/>
                    <a:pt x="0" y="629521"/>
                  </a:cubicBezTo>
                  <a:lnTo>
                    <a:pt x="0" y="183279"/>
                  </a:lnTo>
                  <a:cubicBezTo>
                    <a:pt x="0" y="82057"/>
                    <a:pt x="82057" y="0"/>
                    <a:pt x="183279" y="0"/>
                  </a:cubicBezTo>
                  <a:close/>
                </a:path>
              </a:pathLst>
            </a:custGeom>
            <a:solidFill>
              <a:srgbClr val="235A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 rot="-2700000">
            <a:off x="12034230" y="3518975"/>
            <a:ext cx="844821" cy="844821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3279" y="0"/>
                  </a:moveTo>
                  <a:lnTo>
                    <a:pt x="629521" y="0"/>
                  </a:lnTo>
                  <a:cubicBezTo>
                    <a:pt x="730743" y="0"/>
                    <a:pt x="812800" y="82057"/>
                    <a:pt x="812800" y="183279"/>
                  </a:cubicBezTo>
                  <a:lnTo>
                    <a:pt x="812800" y="629521"/>
                  </a:lnTo>
                  <a:cubicBezTo>
                    <a:pt x="812800" y="730743"/>
                    <a:pt x="730743" y="812800"/>
                    <a:pt x="629521" y="812800"/>
                  </a:cubicBezTo>
                  <a:lnTo>
                    <a:pt x="183279" y="812800"/>
                  </a:lnTo>
                  <a:cubicBezTo>
                    <a:pt x="82057" y="812800"/>
                    <a:pt x="0" y="730743"/>
                    <a:pt x="0" y="629521"/>
                  </a:cubicBezTo>
                  <a:lnTo>
                    <a:pt x="0" y="183279"/>
                  </a:lnTo>
                  <a:cubicBezTo>
                    <a:pt x="0" y="82057"/>
                    <a:pt x="82057" y="0"/>
                    <a:pt x="183279" y="0"/>
                  </a:cubicBezTo>
                  <a:close/>
                </a:path>
              </a:pathLst>
            </a:custGeom>
            <a:solidFill>
              <a:srgbClr val="92BE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 rot="-2700000">
            <a:off x="15262665" y="3518975"/>
            <a:ext cx="844821" cy="844821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3279" y="0"/>
                  </a:moveTo>
                  <a:lnTo>
                    <a:pt x="629521" y="0"/>
                  </a:lnTo>
                  <a:cubicBezTo>
                    <a:pt x="730743" y="0"/>
                    <a:pt x="812800" y="82057"/>
                    <a:pt x="812800" y="183279"/>
                  </a:cubicBezTo>
                  <a:lnTo>
                    <a:pt x="812800" y="629521"/>
                  </a:lnTo>
                  <a:cubicBezTo>
                    <a:pt x="812800" y="730743"/>
                    <a:pt x="730743" y="812800"/>
                    <a:pt x="629521" y="812800"/>
                  </a:cubicBezTo>
                  <a:lnTo>
                    <a:pt x="183279" y="812800"/>
                  </a:lnTo>
                  <a:cubicBezTo>
                    <a:pt x="82057" y="812800"/>
                    <a:pt x="0" y="730743"/>
                    <a:pt x="0" y="629521"/>
                  </a:cubicBezTo>
                  <a:lnTo>
                    <a:pt x="0" y="183279"/>
                  </a:lnTo>
                  <a:cubicBezTo>
                    <a:pt x="0" y="82057"/>
                    <a:pt x="82057" y="0"/>
                    <a:pt x="183279" y="0"/>
                  </a:cubicBezTo>
                  <a:close/>
                </a:path>
              </a:pathLst>
            </a:custGeom>
            <a:solidFill>
              <a:srgbClr val="40878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515899" y="6345957"/>
            <a:ext cx="2323711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spc="112">
                <a:solidFill>
                  <a:srgbClr val="FFFFFF"/>
                </a:solidFill>
                <a:latin typeface="Andada Pro Semi-Bold"/>
              </a:rPr>
              <a:t>Accuracy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820414" y="6407386"/>
            <a:ext cx="2323711" cy="578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spc="112" dirty="0">
                <a:solidFill>
                  <a:srgbClr val="FFFFFF"/>
                </a:solidFill>
                <a:latin typeface="Andada Pro Semi-Bold"/>
              </a:rPr>
              <a:t>Precision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982144" y="6387644"/>
            <a:ext cx="2323711" cy="578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spc="112" dirty="0">
                <a:solidFill>
                  <a:srgbClr val="FFFFFF"/>
                </a:solidFill>
                <a:latin typeface="Andada Pro Semi-Bold"/>
              </a:rPr>
              <a:t>Recall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294784" y="6326454"/>
            <a:ext cx="2323711" cy="578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spc="112" dirty="0">
                <a:solidFill>
                  <a:srgbClr val="FFFFFF"/>
                </a:solidFill>
                <a:latin typeface="Andada Pro Semi-Bold"/>
              </a:rPr>
              <a:t>F1 Score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404913" y="5977471"/>
            <a:ext cx="2323711" cy="183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ctr">
              <a:lnSpc>
                <a:spcPts val="4900"/>
              </a:lnSpc>
              <a:spcBef>
                <a:spcPct val="0"/>
              </a:spcBef>
            </a:pPr>
            <a:r>
              <a:rPr lang="en-US" sz="3500" spc="112" dirty="0">
                <a:solidFill>
                  <a:srgbClr val="FFFFFF"/>
                </a:solidFill>
                <a:latin typeface="Andada Pro Semi-Bold"/>
              </a:rPr>
              <a:t>Confusion Matrix</a:t>
            </a:r>
          </a:p>
          <a:p>
            <a:pPr marL="0" lvl="1" indent="0" algn="ctr">
              <a:lnSpc>
                <a:spcPts val="4900"/>
              </a:lnSpc>
              <a:spcBef>
                <a:spcPct val="0"/>
              </a:spcBef>
            </a:pPr>
            <a:endParaRPr lang="en-US" sz="3500" spc="112" dirty="0">
              <a:solidFill>
                <a:srgbClr val="FFFFFF"/>
              </a:solidFill>
              <a:latin typeface="Andada Pro Semi-Bold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2489698" y="3609969"/>
            <a:ext cx="563276" cy="586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spc="142">
                <a:solidFill>
                  <a:srgbClr val="FFFFFF"/>
                </a:solidFill>
                <a:latin typeface="Andada Pro Bold"/>
              </a:rPr>
              <a:t>01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718133" y="3609969"/>
            <a:ext cx="700946" cy="566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spc="142" dirty="0">
                <a:solidFill>
                  <a:srgbClr val="FFFFFF"/>
                </a:solidFill>
                <a:latin typeface="Andada Pro Bold"/>
              </a:rPr>
              <a:t>02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946568" y="3609969"/>
            <a:ext cx="765680" cy="566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spc="142" dirty="0">
                <a:solidFill>
                  <a:srgbClr val="FFFFFF"/>
                </a:solidFill>
                <a:latin typeface="Andada Pro Bold"/>
              </a:rPr>
              <a:t>03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175001" y="3609969"/>
            <a:ext cx="851763" cy="566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spc="142" dirty="0">
                <a:solidFill>
                  <a:srgbClr val="FFFFFF"/>
                </a:solidFill>
                <a:latin typeface="Andada Pro Bold"/>
              </a:rPr>
              <a:t>04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5403437" y="3609969"/>
            <a:ext cx="563276" cy="586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spc="142">
                <a:solidFill>
                  <a:srgbClr val="FFFFFF"/>
                </a:solidFill>
                <a:latin typeface="Andada Pro Bold"/>
              </a:rPr>
              <a:t>05</a:t>
            </a:r>
          </a:p>
        </p:txBody>
      </p:sp>
      <p:sp>
        <p:nvSpPr>
          <p:cNvPr id="75" name="Freeform 75"/>
          <p:cNvSpPr/>
          <p:nvPr/>
        </p:nvSpPr>
        <p:spPr>
          <a:xfrm>
            <a:off x="1713790" y="4857222"/>
            <a:ext cx="420331" cy="420331"/>
          </a:xfrm>
          <a:custGeom>
            <a:avLst/>
            <a:gdLst/>
            <a:ahLst/>
            <a:cxnLst/>
            <a:rect l="l" t="t" r="r" b="b"/>
            <a:pathLst>
              <a:path w="420331" h="420331">
                <a:moveTo>
                  <a:pt x="0" y="0"/>
                </a:moveTo>
                <a:lnTo>
                  <a:pt x="420331" y="0"/>
                </a:lnTo>
                <a:lnTo>
                  <a:pt x="420331" y="420331"/>
                </a:lnTo>
                <a:lnTo>
                  <a:pt x="0" y="42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6" name="Freeform 76"/>
          <p:cNvSpPr/>
          <p:nvPr/>
        </p:nvSpPr>
        <p:spPr>
          <a:xfrm>
            <a:off x="14469271" y="4857222"/>
            <a:ext cx="420331" cy="420331"/>
          </a:xfrm>
          <a:custGeom>
            <a:avLst/>
            <a:gdLst/>
            <a:ahLst/>
            <a:cxnLst/>
            <a:rect l="l" t="t" r="r" b="b"/>
            <a:pathLst>
              <a:path w="420331" h="420331">
                <a:moveTo>
                  <a:pt x="0" y="0"/>
                </a:moveTo>
                <a:lnTo>
                  <a:pt x="420331" y="0"/>
                </a:lnTo>
                <a:lnTo>
                  <a:pt x="420331" y="420331"/>
                </a:lnTo>
                <a:lnTo>
                  <a:pt x="0" y="420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7" name="Freeform 77"/>
          <p:cNvSpPr/>
          <p:nvPr/>
        </p:nvSpPr>
        <p:spPr>
          <a:xfrm>
            <a:off x="4915448" y="4870009"/>
            <a:ext cx="394756" cy="394756"/>
          </a:xfrm>
          <a:custGeom>
            <a:avLst/>
            <a:gdLst/>
            <a:ahLst/>
            <a:cxnLst/>
            <a:rect l="l" t="t" r="r" b="b"/>
            <a:pathLst>
              <a:path w="394756" h="394756">
                <a:moveTo>
                  <a:pt x="0" y="0"/>
                </a:moveTo>
                <a:lnTo>
                  <a:pt x="394756" y="0"/>
                </a:lnTo>
                <a:lnTo>
                  <a:pt x="394756" y="394756"/>
                </a:lnTo>
                <a:lnTo>
                  <a:pt x="0" y="3947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8" name="Freeform 78"/>
          <p:cNvSpPr/>
          <p:nvPr/>
        </p:nvSpPr>
        <p:spPr>
          <a:xfrm>
            <a:off x="8091530" y="4857222"/>
            <a:ext cx="420331" cy="420331"/>
          </a:xfrm>
          <a:custGeom>
            <a:avLst/>
            <a:gdLst/>
            <a:ahLst/>
            <a:cxnLst/>
            <a:rect l="l" t="t" r="r" b="b"/>
            <a:pathLst>
              <a:path w="420331" h="420331">
                <a:moveTo>
                  <a:pt x="0" y="0"/>
                </a:moveTo>
                <a:lnTo>
                  <a:pt x="420332" y="0"/>
                </a:lnTo>
                <a:lnTo>
                  <a:pt x="420332" y="420331"/>
                </a:lnTo>
                <a:lnTo>
                  <a:pt x="0" y="4203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9" name="Freeform 79"/>
          <p:cNvSpPr/>
          <p:nvPr/>
        </p:nvSpPr>
        <p:spPr>
          <a:xfrm>
            <a:off x="11283980" y="4860801"/>
            <a:ext cx="413173" cy="413173"/>
          </a:xfrm>
          <a:custGeom>
            <a:avLst/>
            <a:gdLst/>
            <a:ahLst/>
            <a:cxnLst/>
            <a:rect l="l" t="t" r="r" b="b"/>
            <a:pathLst>
              <a:path w="413173" h="413173">
                <a:moveTo>
                  <a:pt x="0" y="0"/>
                </a:moveTo>
                <a:lnTo>
                  <a:pt x="413173" y="0"/>
                </a:lnTo>
                <a:lnTo>
                  <a:pt x="413173" y="413173"/>
                </a:lnTo>
                <a:lnTo>
                  <a:pt x="0" y="4131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CDEA38-C4C3-6FCE-9FB1-46E446584E98}"/>
              </a:ext>
            </a:extLst>
          </p:cNvPr>
          <p:cNvSpPr/>
          <p:nvPr/>
        </p:nvSpPr>
        <p:spPr>
          <a:xfrm>
            <a:off x="2073215" y="15096"/>
            <a:ext cx="14630400" cy="15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Andada Pro Bold" panose="020B0604020202020204" charset="0"/>
              </a:rPr>
              <a:t>Result: </a:t>
            </a:r>
            <a:r>
              <a:rPr lang="en-US" sz="5400" dirty="0">
                <a:solidFill>
                  <a:srgbClr val="000000"/>
                </a:solidFill>
                <a:latin typeface="Andada Pro Bold"/>
              </a:rPr>
              <a:t>Evaluation  Metrics</a:t>
            </a:r>
            <a:endParaRPr lang="en-US" sz="5400" dirty="0">
              <a:latin typeface="Andada Pro Bold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8FF173-A1D6-B374-9934-48DB1B30438F}"/>
              </a:ext>
            </a:extLst>
          </p:cNvPr>
          <p:cNvSpPr txBox="1"/>
          <p:nvPr/>
        </p:nvSpPr>
        <p:spPr>
          <a:xfrm>
            <a:off x="1235015" y="2039034"/>
            <a:ext cx="1546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da Pro Bold" panose="020B0604020202020204" charset="0"/>
                <a:ea typeface="Aptos" panose="020B0004020202020204" pitchFamily="34" charset="0"/>
                <a:cs typeface="Vrinda" panose="020B0502040204020203" pitchFamily="34" charset="0"/>
              </a:rPr>
              <a:t>Table1: Accuracy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da Pro Bold" panose="020B0604020202020204" charset="0"/>
                <a:ea typeface="Aptos" panose="020B0004020202020204" pitchFamily="34" charset="0"/>
                <a:cs typeface="Vrinda" panose="020B0502040204020203" pitchFamily="34" charset="0"/>
              </a:rPr>
              <a:t>Comparison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da Pro Bold" panose="020B0604020202020204" charset="0"/>
                <a:ea typeface="Aptos" panose="020B0004020202020204" pitchFamily="34" charset="0"/>
                <a:cs typeface="Vrinda" panose="020B0502040204020203" pitchFamily="34" charset="0"/>
              </a:rPr>
              <a:t> of Different Models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da Pro Bold" panose="020B060402020202020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8515C08-95A6-6E72-E1E0-410F4ABC6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937213"/>
              </p:ext>
            </p:extLst>
          </p:nvPr>
        </p:nvGraphicFramePr>
        <p:xfrm>
          <a:off x="1219200" y="2933700"/>
          <a:ext cx="15392400" cy="476267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3847275">
                  <a:extLst>
                    <a:ext uri="{9D8B030D-6E8A-4147-A177-3AD203B41FA5}">
                      <a16:colId xmlns:a16="http://schemas.microsoft.com/office/drawing/2014/main" val="3583249438"/>
                    </a:ext>
                  </a:extLst>
                </a:gridCol>
                <a:gridCol w="3847275">
                  <a:extLst>
                    <a:ext uri="{9D8B030D-6E8A-4147-A177-3AD203B41FA5}">
                      <a16:colId xmlns:a16="http://schemas.microsoft.com/office/drawing/2014/main" val="2317532777"/>
                    </a:ext>
                  </a:extLst>
                </a:gridCol>
                <a:gridCol w="3848925">
                  <a:extLst>
                    <a:ext uri="{9D8B030D-6E8A-4147-A177-3AD203B41FA5}">
                      <a16:colId xmlns:a16="http://schemas.microsoft.com/office/drawing/2014/main" val="3880171499"/>
                    </a:ext>
                  </a:extLst>
                </a:gridCol>
                <a:gridCol w="3848925">
                  <a:extLst>
                    <a:ext uri="{9D8B030D-6E8A-4147-A177-3AD203B41FA5}">
                      <a16:colId xmlns:a16="http://schemas.microsoft.com/office/drawing/2014/main" val="1838042221"/>
                    </a:ext>
                  </a:extLst>
                </a:gridCol>
              </a:tblGrid>
              <a:tr h="6095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kern="100" dirty="0">
                          <a:effectLst/>
                        </a:rPr>
                        <a:t>Model</a:t>
                      </a:r>
                      <a:endParaRPr lang="en-US" sz="40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kern="100" dirty="0">
                          <a:effectLst/>
                        </a:rPr>
                        <a:t>Precision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4000" kern="100" dirty="0">
                          <a:effectLst/>
                        </a:rPr>
                        <a:t>(%)</a:t>
                      </a:r>
                      <a:endParaRPr lang="en-US" sz="4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Recall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(%)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F1-score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(%)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2012536"/>
                  </a:ext>
                </a:extLst>
              </a:tr>
              <a:tr h="8213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</a:rPr>
                        <a:t>CNN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88.74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88.62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88.50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2562953"/>
                  </a:ext>
                </a:extLst>
              </a:tr>
              <a:tr h="8213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</a:rPr>
                        <a:t>MobileNetV2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94.74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94.60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94.51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6400903"/>
                  </a:ext>
                </a:extLst>
              </a:tr>
              <a:tr h="6104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  <a:cs typeface="Times New Roman" panose="02020603050405020304" pitchFamily="18" charset="0"/>
                        </a:rPr>
                        <a:t>InceptionV3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91.83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91.55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91.44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0187462"/>
                  </a:ext>
                </a:extLst>
              </a:tr>
              <a:tr h="10309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Proposed Hybrid</a:t>
                      </a:r>
                      <a:r>
                        <a:rPr lang="en-US" sz="1200" kern="100" dirty="0">
                          <a:effectLst/>
                          <a:latin typeface="Andada Pro Bold" panose="020B0604020202020204" charset="0"/>
                        </a:rPr>
                        <a:t> </a:t>
                      </a: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CNN-MobileNetV2</a:t>
                      </a:r>
                      <a:r>
                        <a:rPr lang="en-US" sz="1200" kern="100" dirty="0">
                          <a:effectLst/>
                        </a:rPr>
                        <a:t>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b="1" kern="100" dirty="0">
                          <a:effectLst/>
                          <a:latin typeface="Andada Pro Bold" panose="020B0604020202020204" charset="0"/>
                        </a:rPr>
                        <a:t>99.88</a:t>
                      </a:r>
                      <a:endParaRPr lang="en-US" sz="3600" b="1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99.88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kern="100" dirty="0">
                          <a:effectLst/>
                          <a:latin typeface="Andada Pro Bold" panose="020B0604020202020204" charset="0"/>
                        </a:rPr>
                        <a:t>99.88</a:t>
                      </a:r>
                      <a:endParaRPr lang="en-US" sz="3600" kern="100" dirty="0">
                        <a:effectLst/>
                        <a:latin typeface="Andada Pro Bold" panose="020B0604020202020204" charset="0"/>
                        <a:ea typeface="Aptos" panose="020B00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6585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184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046118" y="923925"/>
            <a:ext cx="4688681" cy="82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000000"/>
                </a:solidFill>
                <a:latin typeface="Andada Pro Bold"/>
              </a:rPr>
              <a:t>Accuracy Plot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B13838-0B19-D96F-D108-CDC5C7DEDE2B}"/>
              </a:ext>
            </a:extLst>
          </p:cNvPr>
          <p:cNvSpPr/>
          <p:nvPr/>
        </p:nvSpPr>
        <p:spPr>
          <a:xfrm>
            <a:off x="1752600" y="1943100"/>
            <a:ext cx="15240000" cy="71628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FBB1B7-7C87-5245-2641-834238334339}"/>
              </a:ext>
            </a:extLst>
          </p:cNvPr>
          <p:cNvSpPr/>
          <p:nvPr/>
        </p:nvSpPr>
        <p:spPr>
          <a:xfrm>
            <a:off x="1181100" y="571500"/>
            <a:ext cx="159258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ndada Pro Bold" panose="020B0604020202020204" charset="0"/>
                <a:ea typeface="+mn-ea"/>
                <a:cs typeface="+mn-cs"/>
              </a:rPr>
              <a:t>Confusion Matrix, Roc Curve &amp; Qualitative Result Visualization</a:t>
            </a:r>
            <a:r>
              <a:rPr lang="en-US" sz="4000" dirty="0">
                <a:latin typeface="Andada Pro Bold" panose="020B0604020202020204" charset="0"/>
              </a:rPr>
              <a:t>  Experimental Results &amp; Comparison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A2235D-4886-D67C-15ED-8476F5A163AE}"/>
              </a:ext>
            </a:extLst>
          </p:cNvPr>
          <p:cNvSpPr/>
          <p:nvPr/>
        </p:nvSpPr>
        <p:spPr>
          <a:xfrm>
            <a:off x="419100" y="2628900"/>
            <a:ext cx="5562600" cy="68580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A9B973-D73D-CE55-459B-4D9F3B81D6D1}"/>
              </a:ext>
            </a:extLst>
          </p:cNvPr>
          <p:cNvSpPr/>
          <p:nvPr/>
        </p:nvSpPr>
        <p:spPr>
          <a:xfrm>
            <a:off x="6362700" y="2608053"/>
            <a:ext cx="5562600" cy="685800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DA8267-DEB7-AB58-8542-D66F08642EF6}"/>
              </a:ext>
            </a:extLst>
          </p:cNvPr>
          <p:cNvSpPr/>
          <p:nvPr/>
        </p:nvSpPr>
        <p:spPr>
          <a:xfrm>
            <a:off x="12306300" y="2608053"/>
            <a:ext cx="5562600" cy="68580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328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02583" y="2370498"/>
            <a:ext cx="4705411" cy="3723156"/>
          </a:xfrm>
          <a:custGeom>
            <a:avLst/>
            <a:gdLst/>
            <a:ahLst/>
            <a:cxnLst/>
            <a:rect l="l" t="t" r="r" b="b"/>
            <a:pathLst>
              <a:path w="4705411" h="3723156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102268" y="5303491"/>
            <a:ext cx="1997253" cy="1580327"/>
          </a:xfrm>
          <a:custGeom>
            <a:avLst/>
            <a:gdLst/>
            <a:ahLst/>
            <a:cxnLst/>
            <a:rect l="l" t="t" r="r" b="b"/>
            <a:pathLst>
              <a:path w="1997253" h="1580327">
                <a:moveTo>
                  <a:pt x="0" y="0"/>
                </a:moveTo>
                <a:lnTo>
                  <a:pt x="1997253" y="0"/>
                </a:lnTo>
                <a:lnTo>
                  <a:pt x="1997253" y="1580327"/>
                </a:lnTo>
                <a:lnTo>
                  <a:pt x="0" y="15803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58885" y="5273121"/>
            <a:ext cx="1997253" cy="1580327"/>
          </a:xfrm>
          <a:custGeom>
            <a:avLst/>
            <a:gdLst/>
            <a:ahLst/>
            <a:cxnLst/>
            <a:rect l="l" t="t" r="r" b="b"/>
            <a:pathLst>
              <a:path w="1997253" h="1580327">
                <a:moveTo>
                  <a:pt x="0" y="0"/>
                </a:moveTo>
                <a:lnTo>
                  <a:pt x="1997253" y="0"/>
                </a:lnTo>
                <a:lnTo>
                  <a:pt x="1997253" y="1580327"/>
                </a:lnTo>
                <a:lnTo>
                  <a:pt x="0" y="1580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029007" y="5273121"/>
            <a:ext cx="1997253" cy="1580327"/>
          </a:xfrm>
          <a:custGeom>
            <a:avLst/>
            <a:gdLst/>
            <a:ahLst/>
            <a:cxnLst/>
            <a:rect l="l" t="t" r="r" b="b"/>
            <a:pathLst>
              <a:path w="1997253" h="1580327">
                <a:moveTo>
                  <a:pt x="0" y="0"/>
                </a:moveTo>
                <a:lnTo>
                  <a:pt x="1997253" y="0"/>
                </a:lnTo>
                <a:lnTo>
                  <a:pt x="1997253" y="1580327"/>
                </a:lnTo>
                <a:lnTo>
                  <a:pt x="0" y="15803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675540" y="5273121"/>
            <a:ext cx="1997253" cy="1580327"/>
          </a:xfrm>
          <a:custGeom>
            <a:avLst/>
            <a:gdLst/>
            <a:ahLst/>
            <a:cxnLst/>
            <a:rect l="l" t="t" r="r" b="b"/>
            <a:pathLst>
              <a:path w="1997253" h="1580327">
                <a:moveTo>
                  <a:pt x="0" y="0"/>
                </a:moveTo>
                <a:lnTo>
                  <a:pt x="1997254" y="0"/>
                </a:lnTo>
                <a:lnTo>
                  <a:pt x="1997254" y="1580327"/>
                </a:lnTo>
                <a:lnTo>
                  <a:pt x="0" y="1580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2419526" y="5835217"/>
            <a:ext cx="1282577" cy="28575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-5400000">
            <a:off x="1493593" y="5355601"/>
            <a:ext cx="1081452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5331427"/>
            <a:ext cx="1963614" cy="1070293"/>
            <a:chOff x="0" y="0"/>
            <a:chExt cx="4240613" cy="2311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40613" cy="2311400"/>
            </a:xfrm>
            <a:custGeom>
              <a:avLst/>
              <a:gdLst/>
              <a:ahLst/>
              <a:cxnLst/>
              <a:rect l="l" t="t" r="r" b="b"/>
              <a:pathLst>
                <a:path w="4240613" h="2311400">
                  <a:moveTo>
                    <a:pt x="3935813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3935813" y="2311400"/>
                  </a:lnTo>
                  <a:cubicBezTo>
                    <a:pt x="4104723" y="2311400"/>
                    <a:pt x="4240613" y="2175510"/>
                    <a:pt x="4240613" y="2006600"/>
                  </a:cubicBezTo>
                  <a:lnTo>
                    <a:pt x="4240613" y="304800"/>
                  </a:lnTo>
                  <a:cubicBezTo>
                    <a:pt x="4240613" y="135890"/>
                    <a:pt x="4104723" y="0"/>
                    <a:pt x="3935813" y="0"/>
                  </a:cubicBezTo>
                  <a:close/>
                </a:path>
              </a:pathLst>
            </a:custGeom>
            <a:solidFill>
              <a:srgbClr val="0104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AutoShape 11"/>
          <p:cNvSpPr/>
          <p:nvPr/>
        </p:nvSpPr>
        <p:spPr>
          <a:xfrm>
            <a:off x="5614851" y="5193089"/>
            <a:ext cx="1306504" cy="28575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rot="-5400000">
            <a:off x="4143149" y="6381852"/>
            <a:ext cx="1081452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3702068" y="5331427"/>
            <a:ext cx="1963614" cy="1070293"/>
            <a:chOff x="0" y="0"/>
            <a:chExt cx="4240613" cy="2311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40613" cy="2311400"/>
            </a:xfrm>
            <a:custGeom>
              <a:avLst/>
              <a:gdLst/>
              <a:ahLst/>
              <a:cxnLst/>
              <a:rect l="l" t="t" r="r" b="b"/>
              <a:pathLst>
                <a:path w="4240613" h="2311400">
                  <a:moveTo>
                    <a:pt x="3935813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3935813" y="2311400"/>
                  </a:lnTo>
                  <a:cubicBezTo>
                    <a:pt x="4104723" y="2311400"/>
                    <a:pt x="4240613" y="2175510"/>
                    <a:pt x="4240613" y="2006600"/>
                  </a:cubicBezTo>
                  <a:lnTo>
                    <a:pt x="4240613" y="304800"/>
                  </a:lnTo>
                  <a:cubicBezTo>
                    <a:pt x="4240613" y="135890"/>
                    <a:pt x="4104723" y="0"/>
                    <a:pt x="3935813" y="0"/>
                  </a:cubicBezTo>
                  <a:close/>
                </a:path>
              </a:pathLst>
            </a:custGeom>
            <a:solidFill>
              <a:srgbClr val="33A6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AutoShape 15"/>
          <p:cNvSpPr/>
          <p:nvPr/>
        </p:nvSpPr>
        <p:spPr>
          <a:xfrm rot="36151">
            <a:off x="14299521" y="5896327"/>
            <a:ext cx="1282577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rot="-5400000">
            <a:off x="13063399" y="6381852"/>
            <a:ext cx="1081452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2622318" y="5331427"/>
            <a:ext cx="1963614" cy="1070293"/>
            <a:chOff x="0" y="0"/>
            <a:chExt cx="4240613" cy="2311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240613" cy="2311400"/>
            </a:xfrm>
            <a:custGeom>
              <a:avLst/>
              <a:gdLst/>
              <a:ahLst/>
              <a:cxnLst/>
              <a:rect l="l" t="t" r="r" b="b"/>
              <a:pathLst>
                <a:path w="4240613" h="2311400">
                  <a:moveTo>
                    <a:pt x="3935813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3935813" y="2311400"/>
                  </a:lnTo>
                  <a:cubicBezTo>
                    <a:pt x="4104723" y="2311400"/>
                    <a:pt x="4240613" y="2175510"/>
                    <a:pt x="4240613" y="2006600"/>
                  </a:cubicBezTo>
                  <a:lnTo>
                    <a:pt x="4240613" y="304800"/>
                  </a:lnTo>
                  <a:cubicBezTo>
                    <a:pt x="4240613" y="135890"/>
                    <a:pt x="4104723" y="0"/>
                    <a:pt x="3935813" y="0"/>
                  </a:cubicBezTo>
                  <a:close/>
                </a:path>
              </a:pathLst>
            </a:custGeom>
            <a:solidFill>
              <a:srgbClr val="33A6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AutoShape 19"/>
          <p:cNvSpPr/>
          <p:nvPr/>
        </p:nvSpPr>
        <p:spPr>
          <a:xfrm rot="-5400000">
            <a:off x="15736767" y="5355601"/>
            <a:ext cx="1081452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5295686" y="5331427"/>
            <a:ext cx="1963614" cy="1070293"/>
            <a:chOff x="0" y="0"/>
            <a:chExt cx="4240613" cy="2311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40613" cy="2311400"/>
            </a:xfrm>
            <a:custGeom>
              <a:avLst/>
              <a:gdLst/>
              <a:ahLst/>
              <a:cxnLst/>
              <a:rect l="l" t="t" r="r" b="b"/>
              <a:pathLst>
                <a:path w="4240613" h="2311400">
                  <a:moveTo>
                    <a:pt x="3935813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3935813" y="2311400"/>
                  </a:lnTo>
                  <a:cubicBezTo>
                    <a:pt x="4104723" y="2311400"/>
                    <a:pt x="4240613" y="2175510"/>
                    <a:pt x="4240613" y="2006600"/>
                  </a:cubicBezTo>
                  <a:lnTo>
                    <a:pt x="4240613" y="304800"/>
                  </a:lnTo>
                  <a:cubicBezTo>
                    <a:pt x="4240613" y="135890"/>
                    <a:pt x="4104723" y="0"/>
                    <a:pt x="3935813" y="0"/>
                  </a:cubicBezTo>
                  <a:close/>
                </a:path>
              </a:pathLst>
            </a:custGeom>
            <a:solidFill>
              <a:srgbClr val="0104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AutoShape 22"/>
          <p:cNvSpPr/>
          <p:nvPr/>
        </p:nvSpPr>
        <p:spPr>
          <a:xfrm rot="-5400000">
            <a:off x="8175138" y="5080135"/>
            <a:ext cx="1937723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6825509" y="2936534"/>
            <a:ext cx="4636982" cy="2148364"/>
            <a:chOff x="0" y="0"/>
            <a:chExt cx="4988875" cy="2311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88875" cy="2311400"/>
            </a:xfrm>
            <a:custGeom>
              <a:avLst/>
              <a:gdLst/>
              <a:ahLst/>
              <a:cxnLst/>
              <a:rect l="l" t="t" r="r" b="b"/>
              <a:pathLst>
                <a:path w="4988875" h="2311400">
                  <a:moveTo>
                    <a:pt x="468407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006600"/>
                  </a:lnTo>
                  <a:cubicBezTo>
                    <a:pt x="0" y="2175510"/>
                    <a:pt x="135890" y="2311400"/>
                    <a:pt x="304800" y="2311400"/>
                  </a:cubicBezTo>
                  <a:lnTo>
                    <a:pt x="4684075" y="2311400"/>
                  </a:lnTo>
                  <a:cubicBezTo>
                    <a:pt x="4852985" y="2311400"/>
                    <a:pt x="4988875" y="2175510"/>
                    <a:pt x="4988875" y="2006600"/>
                  </a:cubicBezTo>
                  <a:lnTo>
                    <a:pt x="4988875" y="304800"/>
                  </a:lnTo>
                  <a:cubicBezTo>
                    <a:pt x="4988875" y="135890"/>
                    <a:pt x="4852985" y="0"/>
                    <a:pt x="4684075" y="0"/>
                  </a:cubicBezTo>
                  <a:close/>
                </a:path>
              </a:pathLst>
            </a:custGeom>
            <a:solidFill>
              <a:srgbClr val="33A6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AutoShape 25"/>
          <p:cNvSpPr/>
          <p:nvPr/>
        </p:nvSpPr>
        <p:spPr>
          <a:xfrm>
            <a:off x="11366645" y="5193089"/>
            <a:ext cx="1306504" cy="28575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628021" y="5484088"/>
            <a:ext cx="764971" cy="764971"/>
          </a:xfrm>
          <a:custGeom>
            <a:avLst/>
            <a:gdLst/>
            <a:ahLst/>
            <a:cxnLst/>
            <a:rect l="l" t="t" r="r" b="b"/>
            <a:pathLst>
              <a:path w="764971" h="764971">
                <a:moveTo>
                  <a:pt x="0" y="0"/>
                </a:moveTo>
                <a:lnTo>
                  <a:pt x="764971" y="0"/>
                </a:lnTo>
                <a:lnTo>
                  <a:pt x="764971" y="764971"/>
                </a:lnTo>
                <a:lnTo>
                  <a:pt x="0" y="7649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4301389" y="5484088"/>
            <a:ext cx="764971" cy="764971"/>
          </a:xfrm>
          <a:custGeom>
            <a:avLst/>
            <a:gdLst/>
            <a:ahLst/>
            <a:cxnLst/>
            <a:rect l="l" t="t" r="r" b="b"/>
            <a:pathLst>
              <a:path w="764971" h="764971">
                <a:moveTo>
                  <a:pt x="0" y="0"/>
                </a:moveTo>
                <a:lnTo>
                  <a:pt x="764971" y="0"/>
                </a:lnTo>
                <a:lnTo>
                  <a:pt x="764971" y="764971"/>
                </a:lnTo>
                <a:lnTo>
                  <a:pt x="0" y="7649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3225601" y="5488049"/>
            <a:ext cx="757048" cy="757048"/>
          </a:xfrm>
          <a:custGeom>
            <a:avLst/>
            <a:gdLst/>
            <a:ahLst/>
            <a:cxnLst/>
            <a:rect l="l" t="t" r="r" b="b"/>
            <a:pathLst>
              <a:path w="757048" h="757048">
                <a:moveTo>
                  <a:pt x="0" y="0"/>
                </a:moveTo>
                <a:lnTo>
                  <a:pt x="757048" y="0"/>
                </a:lnTo>
                <a:lnTo>
                  <a:pt x="757048" y="757048"/>
                </a:lnTo>
                <a:lnTo>
                  <a:pt x="0" y="7570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5880820" y="5540805"/>
            <a:ext cx="793347" cy="651537"/>
          </a:xfrm>
          <a:custGeom>
            <a:avLst/>
            <a:gdLst/>
            <a:ahLst/>
            <a:cxnLst/>
            <a:rect l="l" t="t" r="r" b="b"/>
            <a:pathLst>
              <a:path w="793347" h="651537">
                <a:moveTo>
                  <a:pt x="0" y="0"/>
                </a:moveTo>
                <a:lnTo>
                  <a:pt x="793347" y="0"/>
                </a:lnTo>
                <a:lnTo>
                  <a:pt x="793347" y="651537"/>
                </a:lnTo>
                <a:lnTo>
                  <a:pt x="0" y="6515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8746064" y="3424439"/>
            <a:ext cx="795871" cy="1172554"/>
          </a:xfrm>
          <a:custGeom>
            <a:avLst/>
            <a:gdLst/>
            <a:ahLst/>
            <a:cxnLst/>
            <a:rect l="l" t="t" r="r" b="b"/>
            <a:pathLst>
              <a:path w="795871" h="1172554">
                <a:moveTo>
                  <a:pt x="0" y="0"/>
                </a:moveTo>
                <a:lnTo>
                  <a:pt x="795872" y="0"/>
                </a:lnTo>
                <a:lnTo>
                  <a:pt x="795872" y="1172554"/>
                </a:lnTo>
                <a:lnTo>
                  <a:pt x="0" y="11725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3702068" y="1392598"/>
            <a:ext cx="10883864" cy="826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0D0D0D"/>
                </a:solidFill>
                <a:latin typeface="Andada Pro Bold"/>
              </a:rPr>
              <a:t>Discussion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28021" y="2974962"/>
            <a:ext cx="5197486" cy="2463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dirty="0">
                <a:solidFill>
                  <a:srgbClr val="0D0D0D"/>
                </a:solidFill>
                <a:latin typeface="Andada Pro Semi-Bold"/>
              </a:rPr>
              <a:t>Hybrid outperformed baselines on all metrics</a:t>
            </a:r>
          </a:p>
          <a:p>
            <a:pPr algn="ctr">
              <a:lnSpc>
                <a:spcPts val="4900"/>
              </a:lnSpc>
            </a:pPr>
            <a:endParaRPr lang="en-US" sz="3500" dirty="0">
              <a:solidFill>
                <a:srgbClr val="0D0D0D"/>
              </a:solidFill>
              <a:latin typeface="Andada Pro Semi-Bold"/>
            </a:endParaRPr>
          </a:p>
          <a:p>
            <a:pPr marL="0" lvl="1" indent="0" algn="ctr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D0D0D"/>
              </a:solidFill>
              <a:latin typeface="Andada Pro Semi-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28699" y="7232141"/>
            <a:ext cx="5219695" cy="2463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0D0D0D"/>
                </a:solidFill>
                <a:latin typeface="Andada Pro Semi-Bold"/>
              </a:rPr>
              <a:t>Advanced Technical Capabilities under blur, low-light, occlusion</a:t>
            </a:r>
          </a:p>
          <a:p>
            <a:pPr marL="0" lvl="1" indent="0" algn="ctr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D0D0D"/>
              </a:solidFill>
              <a:latin typeface="Andada Pro Semi-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582401" y="7232141"/>
            <a:ext cx="5943599" cy="3720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dirty="0">
                <a:solidFill>
                  <a:srgbClr val="0D0D0D"/>
                </a:solidFill>
                <a:latin typeface="Andada Pro Semi-Bold"/>
              </a:rPr>
              <a:t>Limitations: dataset imbalance, cropped-only images, low-light recall drop</a:t>
            </a:r>
          </a:p>
          <a:p>
            <a:pPr algn="ctr">
              <a:lnSpc>
                <a:spcPts val="4900"/>
              </a:lnSpc>
            </a:pPr>
            <a:endParaRPr lang="en-US" sz="3500" dirty="0">
              <a:solidFill>
                <a:srgbClr val="0D0D0D"/>
              </a:solidFill>
              <a:latin typeface="Andada Pro Semi-Bold"/>
            </a:endParaRPr>
          </a:p>
          <a:p>
            <a:pPr algn="ctr">
              <a:lnSpc>
                <a:spcPts val="4900"/>
              </a:lnSpc>
            </a:pPr>
            <a:endParaRPr lang="en-US" sz="3500" dirty="0">
              <a:solidFill>
                <a:srgbClr val="0D0D0D"/>
              </a:solidFill>
              <a:latin typeface="Andada Pro Semi-Bold"/>
            </a:endParaRPr>
          </a:p>
          <a:p>
            <a:pPr marL="0" lvl="1" indent="0" algn="ctr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D0D0D"/>
              </a:solidFill>
              <a:latin typeface="Andada Pro Semi-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1864094" y="2777647"/>
            <a:ext cx="5395202" cy="2463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0D0D0D"/>
                </a:solidFill>
                <a:latin typeface="Andada Pro Semi-Bold"/>
              </a:rPr>
              <a:t>Improved recognition of visually similar classes (e.g., speed limits)</a:t>
            </a:r>
          </a:p>
          <a:p>
            <a:pPr marL="0" lvl="1" indent="0" algn="ctr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D0D0D"/>
              </a:solidFill>
              <a:latin typeface="Andada Pro Semi-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74804" y="2259211"/>
            <a:ext cx="141372" cy="1089919"/>
            <a:chOff x="0" y="0"/>
            <a:chExt cx="43872" cy="338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872" cy="338235"/>
            </a:xfrm>
            <a:custGeom>
              <a:avLst/>
              <a:gdLst/>
              <a:ahLst/>
              <a:cxnLst/>
              <a:rect l="l" t="t" r="r" b="b"/>
              <a:pathLst>
                <a:path w="43872" h="338235">
                  <a:moveTo>
                    <a:pt x="0" y="0"/>
                  </a:moveTo>
                  <a:lnTo>
                    <a:pt x="43872" y="0"/>
                  </a:lnTo>
                  <a:lnTo>
                    <a:pt x="43872" y="338235"/>
                  </a:lnTo>
                  <a:lnTo>
                    <a:pt x="0" y="338235"/>
                  </a:lnTo>
                  <a:close/>
                </a:path>
              </a:pathLst>
            </a:custGeom>
            <a:solidFill>
              <a:srgbClr val="92BE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872" cy="385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374804" y="3623183"/>
            <a:ext cx="141372" cy="1089919"/>
            <a:chOff x="0" y="0"/>
            <a:chExt cx="43872" cy="3382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72" cy="338235"/>
            </a:xfrm>
            <a:custGeom>
              <a:avLst/>
              <a:gdLst/>
              <a:ahLst/>
              <a:cxnLst/>
              <a:rect l="l" t="t" r="r" b="b"/>
              <a:pathLst>
                <a:path w="43872" h="338235">
                  <a:moveTo>
                    <a:pt x="0" y="0"/>
                  </a:moveTo>
                  <a:lnTo>
                    <a:pt x="43872" y="0"/>
                  </a:lnTo>
                  <a:lnTo>
                    <a:pt x="43872" y="338235"/>
                  </a:lnTo>
                  <a:lnTo>
                    <a:pt x="0" y="338235"/>
                  </a:lnTo>
                  <a:close/>
                </a:path>
              </a:pathLst>
            </a:custGeom>
            <a:solidFill>
              <a:srgbClr val="639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872" cy="385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74804" y="4987155"/>
            <a:ext cx="141372" cy="1089919"/>
            <a:chOff x="0" y="0"/>
            <a:chExt cx="43872" cy="3382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872" cy="338235"/>
            </a:xfrm>
            <a:custGeom>
              <a:avLst/>
              <a:gdLst/>
              <a:ahLst/>
              <a:cxnLst/>
              <a:rect l="l" t="t" r="r" b="b"/>
              <a:pathLst>
                <a:path w="43872" h="338235">
                  <a:moveTo>
                    <a:pt x="0" y="0"/>
                  </a:moveTo>
                  <a:lnTo>
                    <a:pt x="43872" y="0"/>
                  </a:lnTo>
                  <a:lnTo>
                    <a:pt x="43872" y="338235"/>
                  </a:lnTo>
                  <a:lnTo>
                    <a:pt x="0" y="338235"/>
                  </a:lnTo>
                  <a:close/>
                </a:path>
              </a:pathLst>
            </a:custGeom>
            <a:solidFill>
              <a:srgbClr val="40878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3872" cy="385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74804" y="6351127"/>
            <a:ext cx="141372" cy="1089919"/>
            <a:chOff x="0" y="0"/>
            <a:chExt cx="43872" cy="338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872" cy="338235"/>
            </a:xfrm>
            <a:custGeom>
              <a:avLst/>
              <a:gdLst/>
              <a:ahLst/>
              <a:cxnLst/>
              <a:rect l="l" t="t" r="r" b="b"/>
              <a:pathLst>
                <a:path w="43872" h="338235">
                  <a:moveTo>
                    <a:pt x="0" y="0"/>
                  </a:moveTo>
                  <a:lnTo>
                    <a:pt x="43872" y="0"/>
                  </a:lnTo>
                  <a:lnTo>
                    <a:pt x="43872" y="338235"/>
                  </a:lnTo>
                  <a:lnTo>
                    <a:pt x="0" y="338235"/>
                  </a:lnTo>
                  <a:close/>
                </a:path>
              </a:pathLst>
            </a:custGeom>
            <a:solidFill>
              <a:srgbClr val="3275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3872" cy="385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374804" y="7715099"/>
            <a:ext cx="141372" cy="1089919"/>
            <a:chOff x="0" y="0"/>
            <a:chExt cx="43872" cy="3382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872" cy="338235"/>
            </a:xfrm>
            <a:custGeom>
              <a:avLst/>
              <a:gdLst/>
              <a:ahLst/>
              <a:cxnLst/>
              <a:rect l="l" t="t" r="r" b="b"/>
              <a:pathLst>
                <a:path w="43872" h="338235">
                  <a:moveTo>
                    <a:pt x="0" y="0"/>
                  </a:moveTo>
                  <a:lnTo>
                    <a:pt x="43872" y="0"/>
                  </a:lnTo>
                  <a:lnTo>
                    <a:pt x="43872" y="338235"/>
                  </a:lnTo>
                  <a:lnTo>
                    <a:pt x="0" y="338235"/>
                  </a:lnTo>
                  <a:close/>
                </a:path>
              </a:pathLst>
            </a:custGeom>
            <a:solidFill>
              <a:srgbClr val="235A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3872" cy="385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859243" y="2436089"/>
            <a:ext cx="652960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000000"/>
                </a:solidFill>
                <a:latin typeface="Andada Pro"/>
              </a:rPr>
              <a:t>Integration of Advanced AI Techniques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49550" y="4007123"/>
            <a:ext cx="652960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000000"/>
                </a:solidFill>
                <a:latin typeface="Andada Pro"/>
              </a:rPr>
              <a:t>Enhanced Real-time Processing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9243" y="5203862"/>
            <a:ext cx="652960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96">
                <a:solidFill>
                  <a:srgbClr val="000000"/>
                </a:solidFill>
                <a:latin typeface="Andada Pro"/>
              </a:rPr>
              <a:t>Cross-Platform Scalability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59243" y="6442920"/>
            <a:ext cx="652960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96">
                <a:solidFill>
                  <a:srgbClr val="000000"/>
                </a:solidFill>
                <a:latin typeface="Andada Pro"/>
              </a:rPr>
              <a:t>Improved Robustness to Environmental Factors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9243" y="8033165"/>
            <a:ext cx="652960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96" dirty="0">
                <a:solidFill>
                  <a:srgbClr val="000000"/>
                </a:solidFill>
                <a:latin typeface="Andada Pro"/>
              </a:rPr>
              <a:t>Expanding Dataset Diversity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75185" y="629667"/>
            <a:ext cx="8737631" cy="85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spc="209">
                <a:solidFill>
                  <a:srgbClr val="000000"/>
                </a:solidFill>
                <a:latin typeface="Andada Pro Bold"/>
              </a:rPr>
              <a:t>Future Directions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773644" y="6843315"/>
            <a:ext cx="1094088" cy="1820213"/>
            <a:chOff x="0" y="0"/>
            <a:chExt cx="311700" cy="5185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1700" cy="518569"/>
            </a:xfrm>
            <a:custGeom>
              <a:avLst/>
              <a:gdLst/>
              <a:ahLst/>
              <a:cxnLst/>
              <a:rect l="l" t="t" r="r" b="b"/>
              <a:pathLst>
                <a:path w="311700" h="518569">
                  <a:moveTo>
                    <a:pt x="141523" y="0"/>
                  </a:moveTo>
                  <a:lnTo>
                    <a:pt x="170177" y="0"/>
                  </a:lnTo>
                  <a:cubicBezTo>
                    <a:pt x="207712" y="0"/>
                    <a:pt x="243708" y="14910"/>
                    <a:pt x="270249" y="41451"/>
                  </a:cubicBezTo>
                  <a:cubicBezTo>
                    <a:pt x="296790" y="67992"/>
                    <a:pt x="311700" y="103989"/>
                    <a:pt x="311700" y="141523"/>
                  </a:cubicBezTo>
                  <a:lnTo>
                    <a:pt x="311700" y="377046"/>
                  </a:lnTo>
                  <a:cubicBezTo>
                    <a:pt x="311700" y="455207"/>
                    <a:pt x="248338" y="518569"/>
                    <a:pt x="170177" y="518569"/>
                  </a:cubicBezTo>
                  <a:lnTo>
                    <a:pt x="141523" y="518569"/>
                  </a:lnTo>
                  <a:cubicBezTo>
                    <a:pt x="103989" y="518569"/>
                    <a:pt x="67992" y="503659"/>
                    <a:pt x="41451" y="477118"/>
                  </a:cubicBezTo>
                  <a:cubicBezTo>
                    <a:pt x="14910" y="450577"/>
                    <a:pt x="0" y="414581"/>
                    <a:pt x="0" y="377046"/>
                  </a:cubicBezTo>
                  <a:lnTo>
                    <a:pt x="0" y="141523"/>
                  </a:lnTo>
                  <a:cubicBezTo>
                    <a:pt x="0" y="103989"/>
                    <a:pt x="14910" y="67992"/>
                    <a:pt x="41451" y="41451"/>
                  </a:cubicBezTo>
                  <a:cubicBezTo>
                    <a:pt x="67992" y="14910"/>
                    <a:pt x="103989" y="0"/>
                    <a:pt x="141523" y="0"/>
                  </a:cubicBezTo>
                  <a:close/>
                </a:path>
              </a:pathLst>
            </a:custGeom>
            <a:solidFill>
              <a:srgbClr val="92BE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311700" cy="575719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636500" y="5132533"/>
            <a:ext cx="1368376" cy="136837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46870" y="46870"/>
              <a:ext cx="719059" cy="719059"/>
            </a:xfrm>
            <a:custGeom>
              <a:avLst/>
              <a:gdLst/>
              <a:ahLst/>
              <a:cxnLst/>
              <a:rect l="l" t="t" r="r" b="b"/>
              <a:pathLst>
                <a:path w="719059" h="719059">
                  <a:moveTo>
                    <a:pt x="439543" y="33143"/>
                  </a:moveTo>
                  <a:lnTo>
                    <a:pt x="685917" y="279517"/>
                  </a:lnTo>
                  <a:cubicBezTo>
                    <a:pt x="707138" y="300738"/>
                    <a:pt x="719060" y="329519"/>
                    <a:pt x="719060" y="359530"/>
                  </a:cubicBezTo>
                  <a:cubicBezTo>
                    <a:pt x="719060" y="389541"/>
                    <a:pt x="707138" y="418322"/>
                    <a:pt x="685917" y="439543"/>
                  </a:cubicBezTo>
                  <a:lnTo>
                    <a:pt x="439543" y="685917"/>
                  </a:lnTo>
                  <a:cubicBezTo>
                    <a:pt x="418322" y="707138"/>
                    <a:pt x="389541" y="719060"/>
                    <a:pt x="359530" y="719060"/>
                  </a:cubicBezTo>
                  <a:cubicBezTo>
                    <a:pt x="329519" y="719060"/>
                    <a:pt x="300738" y="707138"/>
                    <a:pt x="279517" y="685917"/>
                  </a:cubicBezTo>
                  <a:lnTo>
                    <a:pt x="33143" y="439543"/>
                  </a:lnTo>
                  <a:cubicBezTo>
                    <a:pt x="11922" y="418322"/>
                    <a:pt x="0" y="389541"/>
                    <a:pt x="0" y="359530"/>
                  </a:cubicBezTo>
                  <a:cubicBezTo>
                    <a:pt x="0" y="329519"/>
                    <a:pt x="11922" y="300738"/>
                    <a:pt x="33143" y="279517"/>
                  </a:cubicBezTo>
                  <a:lnTo>
                    <a:pt x="279517" y="33143"/>
                  </a:lnTo>
                  <a:cubicBezTo>
                    <a:pt x="300738" y="11922"/>
                    <a:pt x="329519" y="0"/>
                    <a:pt x="359530" y="0"/>
                  </a:cubicBezTo>
                  <a:cubicBezTo>
                    <a:pt x="389541" y="0"/>
                    <a:pt x="418322" y="11922"/>
                    <a:pt x="439543" y="33143"/>
                  </a:cubicBezTo>
                  <a:close/>
                </a:path>
              </a:pathLst>
            </a:custGeom>
            <a:solidFill>
              <a:srgbClr val="92BE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910787" y="5406820"/>
            <a:ext cx="819801" cy="819801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978594" y="7748191"/>
            <a:ext cx="684188" cy="67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sz="3882" spc="163">
                <a:solidFill>
                  <a:srgbClr val="FFFFFF"/>
                </a:solidFill>
                <a:latin typeface="Andada Pro Bold"/>
              </a:rPr>
              <a:t>01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251716" y="6087916"/>
            <a:ext cx="1094088" cy="2565109"/>
            <a:chOff x="0" y="0"/>
            <a:chExt cx="311700" cy="73078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11700" cy="730786"/>
            </a:xfrm>
            <a:custGeom>
              <a:avLst/>
              <a:gdLst/>
              <a:ahLst/>
              <a:cxnLst/>
              <a:rect l="l" t="t" r="r" b="b"/>
              <a:pathLst>
                <a:path w="311700" h="730786">
                  <a:moveTo>
                    <a:pt x="141523" y="0"/>
                  </a:moveTo>
                  <a:lnTo>
                    <a:pt x="170177" y="0"/>
                  </a:lnTo>
                  <a:cubicBezTo>
                    <a:pt x="207712" y="0"/>
                    <a:pt x="243708" y="14910"/>
                    <a:pt x="270249" y="41451"/>
                  </a:cubicBezTo>
                  <a:cubicBezTo>
                    <a:pt x="296790" y="67992"/>
                    <a:pt x="311700" y="103989"/>
                    <a:pt x="311700" y="141523"/>
                  </a:cubicBezTo>
                  <a:lnTo>
                    <a:pt x="311700" y="589264"/>
                  </a:lnTo>
                  <a:cubicBezTo>
                    <a:pt x="311700" y="626798"/>
                    <a:pt x="296790" y="662795"/>
                    <a:pt x="270249" y="689335"/>
                  </a:cubicBezTo>
                  <a:cubicBezTo>
                    <a:pt x="243708" y="715876"/>
                    <a:pt x="207712" y="730786"/>
                    <a:pt x="170177" y="730786"/>
                  </a:cubicBezTo>
                  <a:lnTo>
                    <a:pt x="141523" y="730786"/>
                  </a:lnTo>
                  <a:cubicBezTo>
                    <a:pt x="103989" y="730786"/>
                    <a:pt x="67992" y="715876"/>
                    <a:pt x="41451" y="689335"/>
                  </a:cubicBezTo>
                  <a:cubicBezTo>
                    <a:pt x="14910" y="662795"/>
                    <a:pt x="0" y="626798"/>
                    <a:pt x="0" y="589264"/>
                  </a:cubicBezTo>
                  <a:lnTo>
                    <a:pt x="0" y="141523"/>
                  </a:lnTo>
                  <a:cubicBezTo>
                    <a:pt x="0" y="103989"/>
                    <a:pt x="14910" y="67992"/>
                    <a:pt x="41451" y="41451"/>
                  </a:cubicBezTo>
                  <a:cubicBezTo>
                    <a:pt x="67992" y="14910"/>
                    <a:pt x="103989" y="0"/>
                    <a:pt x="141523" y="0"/>
                  </a:cubicBezTo>
                  <a:close/>
                </a:path>
              </a:pathLst>
            </a:custGeom>
            <a:solidFill>
              <a:srgbClr val="639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311700" cy="787936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114572" y="4448345"/>
            <a:ext cx="1368376" cy="1368376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46870" y="46870"/>
              <a:ext cx="719059" cy="719059"/>
            </a:xfrm>
            <a:custGeom>
              <a:avLst/>
              <a:gdLst/>
              <a:ahLst/>
              <a:cxnLst/>
              <a:rect l="l" t="t" r="r" b="b"/>
              <a:pathLst>
                <a:path w="719059" h="719059">
                  <a:moveTo>
                    <a:pt x="439543" y="33143"/>
                  </a:moveTo>
                  <a:lnTo>
                    <a:pt x="685917" y="279517"/>
                  </a:lnTo>
                  <a:cubicBezTo>
                    <a:pt x="707138" y="300738"/>
                    <a:pt x="719060" y="329519"/>
                    <a:pt x="719060" y="359530"/>
                  </a:cubicBezTo>
                  <a:cubicBezTo>
                    <a:pt x="719060" y="389541"/>
                    <a:pt x="707138" y="418322"/>
                    <a:pt x="685917" y="439543"/>
                  </a:cubicBezTo>
                  <a:lnTo>
                    <a:pt x="439543" y="685917"/>
                  </a:lnTo>
                  <a:cubicBezTo>
                    <a:pt x="418322" y="707138"/>
                    <a:pt x="389541" y="719060"/>
                    <a:pt x="359530" y="719060"/>
                  </a:cubicBezTo>
                  <a:cubicBezTo>
                    <a:pt x="329519" y="719060"/>
                    <a:pt x="300738" y="707138"/>
                    <a:pt x="279517" y="685917"/>
                  </a:cubicBezTo>
                  <a:lnTo>
                    <a:pt x="33143" y="439543"/>
                  </a:lnTo>
                  <a:cubicBezTo>
                    <a:pt x="11922" y="418322"/>
                    <a:pt x="0" y="389541"/>
                    <a:pt x="0" y="359530"/>
                  </a:cubicBezTo>
                  <a:cubicBezTo>
                    <a:pt x="0" y="329519"/>
                    <a:pt x="11922" y="300738"/>
                    <a:pt x="33143" y="279517"/>
                  </a:cubicBezTo>
                  <a:lnTo>
                    <a:pt x="279517" y="33143"/>
                  </a:lnTo>
                  <a:cubicBezTo>
                    <a:pt x="300738" y="11922"/>
                    <a:pt x="329519" y="0"/>
                    <a:pt x="359530" y="0"/>
                  </a:cubicBezTo>
                  <a:cubicBezTo>
                    <a:pt x="389541" y="0"/>
                    <a:pt x="418322" y="11922"/>
                    <a:pt x="439543" y="33143"/>
                  </a:cubicBezTo>
                  <a:close/>
                </a:path>
              </a:pathLst>
            </a:custGeom>
            <a:solidFill>
              <a:srgbClr val="639C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388860" y="4722632"/>
            <a:ext cx="819801" cy="819801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456666" y="7748191"/>
            <a:ext cx="684188" cy="67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sz="3882" spc="163">
                <a:solidFill>
                  <a:srgbClr val="FFFFFF"/>
                </a:solidFill>
                <a:latin typeface="Andada Pro Bold"/>
              </a:rPr>
              <a:t>02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2729788" y="5296723"/>
            <a:ext cx="1094088" cy="3366805"/>
            <a:chOff x="0" y="0"/>
            <a:chExt cx="311700" cy="95918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11700" cy="959185"/>
            </a:xfrm>
            <a:custGeom>
              <a:avLst/>
              <a:gdLst/>
              <a:ahLst/>
              <a:cxnLst/>
              <a:rect l="l" t="t" r="r" b="b"/>
              <a:pathLst>
                <a:path w="311700" h="959185">
                  <a:moveTo>
                    <a:pt x="141523" y="0"/>
                  </a:moveTo>
                  <a:lnTo>
                    <a:pt x="170177" y="0"/>
                  </a:lnTo>
                  <a:cubicBezTo>
                    <a:pt x="207712" y="0"/>
                    <a:pt x="243708" y="14910"/>
                    <a:pt x="270249" y="41451"/>
                  </a:cubicBezTo>
                  <a:cubicBezTo>
                    <a:pt x="296790" y="67992"/>
                    <a:pt x="311700" y="103989"/>
                    <a:pt x="311700" y="141523"/>
                  </a:cubicBezTo>
                  <a:lnTo>
                    <a:pt x="311700" y="817663"/>
                  </a:lnTo>
                  <a:cubicBezTo>
                    <a:pt x="311700" y="895823"/>
                    <a:pt x="248338" y="959185"/>
                    <a:pt x="170177" y="959185"/>
                  </a:cubicBezTo>
                  <a:lnTo>
                    <a:pt x="141523" y="959185"/>
                  </a:lnTo>
                  <a:cubicBezTo>
                    <a:pt x="103989" y="959185"/>
                    <a:pt x="67992" y="944275"/>
                    <a:pt x="41451" y="917734"/>
                  </a:cubicBezTo>
                  <a:cubicBezTo>
                    <a:pt x="14910" y="891194"/>
                    <a:pt x="0" y="855197"/>
                    <a:pt x="0" y="817663"/>
                  </a:cubicBezTo>
                  <a:lnTo>
                    <a:pt x="0" y="141523"/>
                  </a:lnTo>
                  <a:cubicBezTo>
                    <a:pt x="0" y="103989"/>
                    <a:pt x="14910" y="67992"/>
                    <a:pt x="41451" y="41451"/>
                  </a:cubicBezTo>
                  <a:cubicBezTo>
                    <a:pt x="67992" y="14910"/>
                    <a:pt x="103989" y="0"/>
                    <a:pt x="141523" y="0"/>
                  </a:cubicBezTo>
                  <a:close/>
                </a:path>
              </a:pathLst>
            </a:custGeom>
            <a:solidFill>
              <a:srgbClr val="40878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311700" cy="1016335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592645" y="3710049"/>
            <a:ext cx="1368376" cy="1368376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46870" y="46870"/>
              <a:ext cx="719059" cy="719059"/>
            </a:xfrm>
            <a:custGeom>
              <a:avLst/>
              <a:gdLst/>
              <a:ahLst/>
              <a:cxnLst/>
              <a:rect l="l" t="t" r="r" b="b"/>
              <a:pathLst>
                <a:path w="719059" h="719059">
                  <a:moveTo>
                    <a:pt x="439543" y="33143"/>
                  </a:moveTo>
                  <a:lnTo>
                    <a:pt x="685917" y="279517"/>
                  </a:lnTo>
                  <a:cubicBezTo>
                    <a:pt x="707138" y="300738"/>
                    <a:pt x="719060" y="329519"/>
                    <a:pt x="719060" y="359530"/>
                  </a:cubicBezTo>
                  <a:cubicBezTo>
                    <a:pt x="719060" y="389541"/>
                    <a:pt x="707138" y="418322"/>
                    <a:pt x="685917" y="439543"/>
                  </a:cubicBezTo>
                  <a:lnTo>
                    <a:pt x="439543" y="685917"/>
                  </a:lnTo>
                  <a:cubicBezTo>
                    <a:pt x="418322" y="707138"/>
                    <a:pt x="389541" y="719060"/>
                    <a:pt x="359530" y="719060"/>
                  </a:cubicBezTo>
                  <a:cubicBezTo>
                    <a:pt x="329519" y="719060"/>
                    <a:pt x="300738" y="707138"/>
                    <a:pt x="279517" y="685917"/>
                  </a:cubicBezTo>
                  <a:lnTo>
                    <a:pt x="33143" y="439543"/>
                  </a:lnTo>
                  <a:cubicBezTo>
                    <a:pt x="11922" y="418322"/>
                    <a:pt x="0" y="389541"/>
                    <a:pt x="0" y="359530"/>
                  </a:cubicBezTo>
                  <a:cubicBezTo>
                    <a:pt x="0" y="329519"/>
                    <a:pt x="11922" y="300738"/>
                    <a:pt x="33143" y="279517"/>
                  </a:cubicBezTo>
                  <a:lnTo>
                    <a:pt x="279517" y="33143"/>
                  </a:lnTo>
                  <a:cubicBezTo>
                    <a:pt x="300738" y="11922"/>
                    <a:pt x="329519" y="0"/>
                    <a:pt x="359530" y="0"/>
                  </a:cubicBezTo>
                  <a:cubicBezTo>
                    <a:pt x="389541" y="0"/>
                    <a:pt x="418322" y="11922"/>
                    <a:pt x="439543" y="33143"/>
                  </a:cubicBezTo>
                  <a:close/>
                </a:path>
              </a:pathLst>
            </a:custGeom>
            <a:solidFill>
              <a:srgbClr val="40878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866932" y="3984336"/>
            <a:ext cx="819801" cy="819801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2934739" y="7748191"/>
            <a:ext cx="684188" cy="67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sz="3882" spc="163">
                <a:solidFill>
                  <a:srgbClr val="FFFFFF"/>
                </a:solidFill>
                <a:latin typeface="Andada Pro Bold"/>
              </a:rPr>
              <a:t>03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4207861" y="4593337"/>
            <a:ext cx="1094088" cy="4092596"/>
            <a:chOff x="0" y="0"/>
            <a:chExt cx="311700" cy="116595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11700" cy="1165959"/>
            </a:xfrm>
            <a:custGeom>
              <a:avLst/>
              <a:gdLst/>
              <a:ahLst/>
              <a:cxnLst/>
              <a:rect l="l" t="t" r="r" b="b"/>
              <a:pathLst>
                <a:path w="311700" h="1165959">
                  <a:moveTo>
                    <a:pt x="141523" y="0"/>
                  </a:moveTo>
                  <a:lnTo>
                    <a:pt x="170177" y="0"/>
                  </a:lnTo>
                  <a:cubicBezTo>
                    <a:pt x="207712" y="0"/>
                    <a:pt x="243708" y="14910"/>
                    <a:pt x="270249" y="41451"/>
                  </a:cubicBezTo>
                  <a:cubicBezTo>
                    <a:pt x="296790" y="67992"/>
                    <a:pt x="311700" y="103989"/>
                    <a:pt x="311700" y="141523"/>
                  </a:cubicBezTo>
                  <a:lnTo>
                    <a:pt x="311700" y="1024437"/>
                  </a:lnTo>
                  <a:cubicBezTo>
                    <a:pt x="311700" y="1061971"/>
                    <a:pt x="296790" y="1097968"/>
                    <a:pt x="270249" y="1124508"/>
                  </a:cubicBezTo>
                  <a:cubicBezTo>
                    <a:pt x="243708" y="1151049"/>
                    <a:pt x="207712" y="1165959"/>
                    <a:pt x="170177" y="1165959"/>
                  </a:cubicBezTo>
                  <a:lnTo>
                    <a:pt x="141523" y="1165959"/>
                  </a:lnTo>
                  <a:cubicBezTo>
                    <a:pt x="103989" y="1165959"/>
                    <a:pt x="67992" y="1151049"/>
                    <a:pt x="41451" y="1124508"/>
                  </a:cubicBezTo>
                  <a:cubicBezTo>
                    <a:pt x="14910" y="1097968"/>
                    <a:pt x="0" y="1061971"/>
                    <a:pt x="0" y="1024437"/>
                  </a:cubicBezTo>
                  <a:lnTo>
                    <a:pt x="0" y="141523"/>
                  </a:lnTo>
                  <a:cubicBezTo>
                    <a:pt x="0" y="103989"/>
                    <a:pt x="14910" y="67992"/>
                    <a:pt x="41451" y="41451"/>
                  </a:cubicBezTo>
                  <a:cubicBezTo>
                    <a:pt x="67992" y="14910"/>
                    <a:pt x="103989" y="0"/>
                    <a:pt x="141523" y="0"/>
                  </a:cubicBezTo>
                  <a:close/>
                </a:path>
              </a:pathLst>
            </a:custGeom>
            <a:solidFill>
              <a:srgbClr val="40878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311700" cy="1223109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070717" y="2956692"/>
            <a:ext cx="1368376" cy="1368376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46870" y="46870"/>
              <a:ext cx="719059" cy="719059"/>
            </a:xfrm>
            <a:custGeom>
              <a:avLst/>
              <a:gdLst/>
              <a:ahLst/>
              <a:cxnLst/>
              <a:rect l="l" t="t" r="r" b="b"/>
              <a:pathLst>
                <a:path w="719059" h="719059">
                  <a:moveTo>
                    <a:pt x="439543" y="33143"/>
                  </a:moveTo>
                  <a:lnTo>
                    <a:pt x="685917" y="279517"/>
                  </a:lnTo>
                  <a:cubicBezTo>
                    <a:pt x="707138" y="300738"/>
                    <a:pt x="719060" y="329519"/>
                    <a:pt x="719060" y="359530"/>
                  </a:cubicBezTo>
                  <a:cubicBezTo>
                    <a:pt x="719060" y="389541"/>
                    <a:pt x="707138" y="418322"/>
                    <a:pt x="685917" y="439543"/>
                  </a:cubicBezTo>
                  <a:lnTo>
                    <a:pt x="439543" y="685917"/>
                  </a:lnTo>
                  <a:cubicBezTo>
                    <a:pt x="418322" y="707138"/>
                    <a:pt x="389541" y="719060"/>
                    <a:pt x="359530" y="719060"/>
                  </a:cubicBezTo>
                  <a:cubicBezTo>
                    <a:pt x="329519" y="719060"/>
                    <a:pt x="300738" y="707138"/>
                    <a:pt x="279517" y="685917"/>
                  </a:cubicBezTo>
                  <a:lnTo>
                    <a:pt x="33143" y="439543"/>
                  </a:lnTo>
                  <a:cubicBezTo>
                    <a:pt x="11922" y="418322"/>
                    <a:pt x="0" y="389541"/>
                    <a:pt x="0" y="359530"/>
                  </a:cubicBezTo>
                  <a:cubicBezTo>
                    <a:pt x="0" y="329519"/>
                    <a:pt x="11922" y="300738"/>
                    <a:pt x="33143" y="279517"/>
                  </a:cubicBezTo>
                  <a:lnTo>
                    <a:pt x="279517" y="33143"/>
                  </a:lnTo>
                  <a:cubicBezTo>
                    <a:pt x="300738" y="11922"/>
                    <a:pt x="329519" y="0"/>
                    <a:pt x="359530" y="0"/>
                  </a:cubicBezTo>
                  <a:cubicBezTo>
                    <a:pt x="389541" y="0"/>
                    <a:pt x="418322" y="11922"/>
                    <a:pt x="439543" y="33143"/>
                  </a:cubicBezTo>
                  <a:close/>
                </a:path>
              </a:pathLst>
            </a:custGeom>
            <a:solidFill>
              <a:srgbClr val="3275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4345005" y="3230979"/>
            <a:ext cx="819801" cy="819801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4412811" y="7748191"/>
            <a:ext cx="684188" cy="67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sz="3882" spc="163">
                <a:solidFill>
                  <a:srgbClr val="FFFFFF"/>
                </a:solidFill>
                <a:latin typeface="Andada Pro Bold"/>
              </a:rPr>
              <a:t>04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5685933" y="3856865"/>
            <a:ext cx="1094088" cy="4806662"/>
            <a:chOff x="0" y="0"/>
            <a:chExt cx="311700" cy="136939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11700" cy="1369393"/>
            </a:xfrm>
            <a:custGeom>
              <a:avLst/>
              <a:gdLst/>
              <a:ahLst/>
              <a:cxnLst/>
              <a:rect l="l" t="t" r="r" b="b"/>
              <a:pathLst>
                <a:path w="311700" h="1369393">
                  <a:moveTo>
                    <a:pt x="141523" y="0"/>
                  </a:moveTo>
                  <a:lnTo>
                    <a:pt x="170177" y="0"/>
                  </a:lnTo>
                  <a:cubicBezTo>
                    <a:pt x="207712" y="0"/>
                    <a:pt x="243708" y="14910"/>
                    <a:pt x="270249" y="41451"/>
                  </a:cubicBezTo>
                  <a:cubicBezTo>
                    <a:pt x="296790" y="67992"/>
                    <a:pt x="311700" y="103989"/>
                    <a:pt x="311700" y="141523"/>
                  </a:cubicBezTo>
                  <a:lnTo>
                    <a:pt x="311700" y="1227871"/>
                  </a:lnTo>
                  <a:cubicBezTo>
                    <a:pt x="311700" y="1265405"/>
                    <a:pt x="296790" y="1301402"/>
                    <a:pt x="270249" y="1327942"/>
                  </a:cubicBezTo>
                  <a:cubicBezTo>
                    <a:pt x="243708" y="1354483"/>
                    <a:pt x="207712" y="1369393"/>
                    <a:pt x="170177" y="1369393"/>
                  </a:cubicBezTo>
                  <a:lnTo>
                    <a:pt x="141523" y="1369393"/>
                  </a:lnTo>
                  <a:cubicBezTo>
                    <a:pt x="103989" y="1369393"/>
                    <a:pt x="67992" y="1354483"/>
                    <a:pt x="41451" y="1327942"/>
                  </a:cubicBezTo>
                  <a:cubicBezTo>
                    <a:pt x="14910" y="1301402"/>
                    <a:pt x="0" y="1265405"/>
                    <a:pt x="0" y="1227871"/>
                  </a:cubicBezTo>
                  <a:lnTo>
                    <a:pt x="0" y="141523"/>
                  </a:lnTo>
                  <a:cubicBezTo>
                    <a:pt x="0" y="103989"/>
                    <a:pt x="14910" y="67992"/>
                    <a:pt x="41451" y="41451"/>
                  </a:cubicBezTo>
                  <a:cubicBezTo>
                    <a:pt x="67992" y="14910"/>
                    <a:pt x="103989" y="0"/>
                    <a:pt x="141523" y="0"/>
                  </a:cubicBezTo>
                  <a:close/>
                </a:path>
              </a:pathLst>
            </a:custGeom>
            <a:solidFill>
              <a:srgbClr val="235A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57150"/>
              <a:ext cx="311700" cy="1426543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5548790" y="2228477"/>
            <a:ext cx="1368376" cy="1368376"/>
            <a:chOff x="0" y="0"/>
            <a:chExt cx="812800" cy="812800"/>
          </a:xfrm>
        </p:grpSpPr>
        <p:sp>
          <p:nvSpPr>
            <p:cNvPr id="67" name="Freeform 67"/>
            <p:cNvSpPr/>
            <p:nvPr/>
          </p:nvSpPr>
          <p:spPr>
            <a:xfrm>
              <a:off x="46870" y="46870"/>
              <a:ext cx="719059" cy="719059"/>
            </a:xfrm>
            <a:custGeom>
              <a:avLst/>
              <a:gdLst/>
              <a:ahLst/>
              <a:cxnLst/>
              <a:rect l="l" t="t" r="r" b="b"/>
              <a:pathLst>
                <a:path w="719059" h="719059">
                  <a:moveTo>
                    <a:pt x="439543" y="33143"/>
                  </a:moveTo>
                  <a:lnTo>
                    <a:pt x="685917" y="279517"/>
                  </a:lnTo>
                  <a:cubicBezTo>
                    <a:pt x="707138" y="300738"/>
                    <a:pt x="719060" y="329519"/>
                    <a:pt x="719060" y="359530"/>
                  </a:cubicBezTo>
                  <a:cubicBezTo>
                    <a:pt x="719060" y="389541"/>
                    <a:pt x="707138" y="418322"/>
                    <a:pt x="685917" y="439543"/>
                  </a:cubicBezTo>
                  <a:lnTo>
                    <a:pt x="439543" y="685917"/>
                  </a:lnTo>
                  <a:cubicBezTo>
                    <a:pt x="418322" y="707138"/>
                    <a:pt x="389541" y="719060"/>
                    <a:pt x="359530" y="719060"/>
                  </a:cubicBezTo>
                  <a:cubicBezTo>
                    <a:pt x="329519" y="719060"/>
                    <a:pt x="300738" y="707138"/>
                    <a:pt x="279517" y="685917"/>
                  </a:cubicBezTo>
                  <a:lnTo>
                    <a:pt x="33143" y="439543"/>
                  </a:lnTo>
                  <a:cubicBezTo>
                    <a:pt x="11922" y="418322"/>
                    <a:pt x="0" y="389541"/>
                    <a:pt x="0" y="359530"/>
                  </a:cubicBezTo>
                  <a:cubicBezTo>
                    <a:pt x="0" y="329519"/>
                    <a:pt x="11922" y="300738"/>
                    <a:pt x="33143" y="279517"/>
                  </a:cubicBezTo>
                  <a:lnTo>
                    <a:pt x="279517" y="33143"/>
                  </a:lnTo>
                  <a:cubicBezTo>
                    <a:pt x="300738" y="11922"/>
                    <a:pt x="329519" y="0"/>
                    <a:pt x="359530" y="0"/>
                  </a:cubicBezTo>
                  <a:cubicBezTo>
                    <a:pt x="389541" y="0"/>
                    <a:pt x="418322" y="11922"/>
                    <a:pt x="439543" y="33143"/>
                  </a:cubicBezTo>
                  <a:close/>
                </a:path>
              </a:pathLst>
            </a:custGeom>
            <a:solidFill>
              <a:srgbClr val="235A5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5823077" y="2502764"/>
            <a:ext cx="819801" cy="819801"/>
            <a:chOff x="0" y="0"/>
            <a:chExt cx="812800" cy="8128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5221" tIns="55221" rIns="55221" bIns="55221" rtlCol="0" anchor="ctr"/>
            <a:lstStyle/>
            <a:p>
              <a:pPr algn="ctr">
                <a:lnSpc>
                  <a:spcPts val="3348"/>
                </a:lnSpc>
              </a:pPr>
              <a:endParaRPr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5890884" y="7748191"/>
            <a:ext cx="684188" cy="67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sz="3882" spc="163">
                <a:solidFill>
                  <a:srgbClr val="FFFFFF"/>
                </a:solidFill>
                <a:latin typeface="Andada Pro Bold"/>
              </a:rPr>
              <a:t>05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546755" y="2427925"/>
            <a:ext cx="490585" cy="66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545" spc="148">
                <a:solidFill>
                  <a:srgbClr val="000000"/>
                </a:solidFill>
                <a:latin typeface="Andada Pro Bold"/>
              </a:rPr>
              <a:t>1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546755" y="3798637"/>
            <a:ext cx="490585" cy="66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545" spc="148">
                <a:solidFill>
                  <a:srgbClr val="000000"/>
                </a:solidFill>
                <a:latin typeface="Andada Pro Bold"/>
              </a:rPr>
              <a:t>2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546755" y="5169349"/>
            <a:ext cx="490585" cy="66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545" spc="148">
                <a:solidFill>
                  <a:srgbClr val="000000"/>
                </a:solidFill>
                <a:latin typeface="Andada Pro Bold"/>
              </a:rPr>
              <a:t>3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546755" y="6540061"/>
            <a:ext cx="490585" cy="66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545" spc="148">
                <a:solidFill>
                  <a:srgbClr val="000000"/>
                </a:solidFill>
                <a:latin typeface="Andada Pro Bold"/>
              </a:rPr>
              <a:t>4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46755" y="7910773"/>
            <a:ext cx="490585" cy="66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545" spc="148">
                <a:solidFill>
                  <a:srgbClr val="000000"/>
                </a:solidFill>
                <a:latin typeface="Andada Pro Bold"/>
              </a:rPr>
              <a:t>5</a:t>
            </a:r>
          </a:p>
        </p:txBody>
      </p:sp>
      <p:sp>
        <p:nvSpPr>
          <p:cNvPr id="79" name="Freeform 79"/>
          <p:cNvSpPr/>
          <p:nvPr/>
        </p:nvSpPr>
        <p:spPr>
          <a:xfrm>
            <a:off x="10037660" y="5588175"/>
            <a:ext cx="566057" cy="457091"/>
          </a:xfrm>
          <a:custGeom>
            <a:avLst/>
            <a:gdLst/>
            <a:ahLst/>
            <a:cxnLst/>
            <a:rect l="l" t="t" r="r" b="b"/>
            <a:pathLst>
              <a:path w="566057" h="457091">
                <a:moveTo>
                  <a:pt x="0" y="0"/>
                </a:moveTo>
                <a:lnTo>
                  <a:pt x="566056" y="0"/>
                </a:lnTo>
                <a:lnTo>
                  <a:pt x="566056" y="457091"/>
                </a:lnTo>
                <a:lnTo>
                  <a:pt x="0" y="457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0" name="Freeform 80"/>
          <p:cNvSpPr/>
          <p:nvPr/>
        </p:nvSpPr>
        <p:spPr>
          <a:xfrm>
            <a:off x="11517575" y="4840393"/>
            <a:ext cx="562370" cy="584280"/>
          </a:xfrm>
          <a:custGeom>
            <a:avLst/>
            <a:gdLst/>
            <a:ahLst/>
            <a:cxnLst/>
            <a:rect l="l" t="t" r="r" b="b"/>
            <a:pathLst>
              <a:path w="562370" h="584280">
                <a:moveTo>
                  <a:pt x="0" y="0"/>
                </a:moveTo>
                <a:lnTo>
                  <a:pt x="562370" y="0"/>
                </a:lnTo>
                <a:lnTo>
                  <a:pt x="562370" y="584280"/>
                </a:lnTo>
                <a:lnTo>
                  <a:pt x="0" y="584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1" name="Freeform 81"/>
          <p:cNvSpPr/>
          <p:nvPr/>
        </p:nvSpPr>
        <p:spPr>
          <a:xfrm>
            <a:off x="15982113" y="2661800"/>
            <a:ext cx="501729" cy="501729"/>
          </a:xfrm>
          <a:custGeom>
            <a:avLst/>
            <a:gdLst/>
            <a:ahLst/>
            <a:cxnLst/>
            <a:rect l="l" t="t" r="r" b="b"/>
            <a:pathLst>
              <a:path w="501729" h="501729">
                <a:moveTo>
                  <a:pt x="0" y="0"/>
                </a:moveTo>
                <a:lnTo>
                  <a:pt x="501729" y="0"/>
                </a:lnTo>
                <a:lnTo>
                  <a:pt x="501729" y="501729"/>
                </a:lnTo>
                <a:lnTo>
                  <a:pt x="0" y="5017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2" name="Freeform 82"/>
          <p:cNvSpPr/>
          <p:nvPr/>
        </p:nvSpPr>
        <p:spPr>
          <a:xfrm>
            <a:off x="14472397" y="3358372"/>
            <a:ext cx="565017" cy="565017"/>
          </a:xfrm>
          <a:custGeom>
            <a:avLst/>
            <a:gdLst/>
            <a:ahLst/>
            <a:cxnLst/>
            <a:rect l="l" t="t" r="r" b="b"/>
            <a:pathLst>
              <a:path w="565017" h="565017">
                <a:moveTo>
                  <a:pt x="0" y="0"/>
                </a:moveTo>
                <a:lnTo>
                  <a:pt x="565016" y="0"/>
                </a:lnTo>
                <a:lnTo>
                  <a:pt x="565016" y="565016"/>
                </a:lnTo>
                <a:lnTo>
                  <a:pt x="0" y="5650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3" name="Freeform 83"/>
          <p:cNvSpPr/>
          <p:nvPr/>
        </p:nvSpPr>
        <p:spPr>
          <a:xfrm>
            <a:off x="13034293" y="4151697"/>
            <a:ext cx="485080" cy="485080"/>
          </a:xfrm>
          <a:custGeom>
            <a:avLst/>
            <a:gdLst/>
            <a:ahLst/>
            <a:cxnLst/>
            <a:rect l="l" t="t" r="r" b="b"/>
            <a:pathLst>
              <a:path w="485080" h="485080">
                <a:moveTo>
                  <a:pt x="0" y="0"/>
                </a:moveTo>
                <a:lnTo>
                  <a:pt x="485080" y="0"/>
                </a:lnTo>
                <a:lnTo>
                  <a:pt x="485080" y="485080"/>
                </a:lnTo>
                <a:lnTo>
                  <a:pt x="0" y="4850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45401" y="5976"/>
            <a:ext cx="14064948" cy="10287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55104" y="5977"/>
            <a:ext cx="14659148" cy="10287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48B71EDE-6F6D-140F-FF45-75777DC02055}"/>
              </a:ext>
            </a:extLst>
          </p:cNvPr>
          <p:cNvSpPr txBox="1"/>
          <p:nvPr/>
        </p:nvSpPr>
        <p:spPr>
          <a:xfrm>
            <a:off x="5254096" y="2313603"/>
            <a:ext cx="7780263" cy="35818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800" kern="1200" spc="16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7" y="-6233"/>
            <a:ext cx="3772421" cy="3261500"/>
            <a:chOff x="-305" y="-4155"/>
            <a:chExt cx="2514948" cy="217433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4528590" y="7025499"/>
            <a:ext cx="3772422" cy="3261500"/>
            <a:chOff x="-305" y="-4155"/>
            <a:chExt cx="2514948" cy="2174333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428</Words>
  <Application>Microsoft Office PowerPoint</Application>
  <PresentationFormat>Custom</PresentationFormat>
  <Paragraphs>138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Andada Pro</vt:lpstr>
      <vt:lpstr>Aptos</vt:lpstr>
      <vt:lpstr>Andada Pro Bold</vt:lpstr>
      <vt:lpstr>Andada Pro Semi-Bold</vt:lpstr>
      <vt:lpstr>Times New Roman</vt:lpstr>
      <vt:lpstr>Calibri</vt:lpstr>
      <vt:lpstr>Andada Pro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Corporate Minimalist Infographic Presentation</dc:title>
  <dc:creator>Fatema Khatun</dc:creator>
  <cp:lastModifiedBy>HASINA KHATUN</cp:lastModifiedBy>
  <cp:revision>7</cp:revision>
  <dcterms:created xsi:type="dcterms:W3CDTF">2006-08-16T00:00:00Z</dcterms:created>
  <dcterms:modified xsi:type="dcterms:W3CDTF">2026-08-24T15:14:16Z</dcterms:modified>
  <dc:identifier>DAGGWfYsogM</dc:identifier>
</cp:coreProperties>
</file>